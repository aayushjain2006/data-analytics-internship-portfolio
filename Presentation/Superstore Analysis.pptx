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_rels/presentation.xml.rels" ContentType="application/vnd.openxmlformats-package.relationship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10.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4.xml" ContentType="application/vnd.openxmlformats-officedocument.presentationml.slide+xml"/>
  <Override PartName="/ppt/slides/slide6.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5.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reepik.com/" TargetMode="Externa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accent5"/>
        </a:solidFill>
      </p:bgPr>
    </p:bg>
    <p:spTree>
      <p:nvGrpSpPr>
        <p:cNvPr id="1" name=""/>
        <p:cNvGrpSpPr/>
        <p:nvPr/>
      </p:nvGrpSpPr>
      <p:grpSpPr>
        <a:xfrm>
          <a:off x="0" y="0"/>
          <a:ext cx="0" cy="0"/>
          <a:chOff x="0" y="0"/>
          <a:chExt cx="0" cy="0"/>
        </a:xfrm>
      </p:grpSpPr>
      <p:sp>
        <p:nvSpPr>
          <p:cNvPr id="2" name="Google Shape;10;p2"/>
          <p:cNvSpPr/>
          <p:nvPr/>
        </p:nvSpPr>
        <p:spPr>
          <a:xfrm>
            <a:off x="-3537720" y="712080"/>
            <a:ext cx="7035120" cy="3276720"/>
          </a:xfrm>
          <a:prstGeom prst="triangle">
            <a:avLst>
              <a:gd name="adj" fmla="val 50000"/>
            </a:avLst>
          </a:prstGeom>
          <a:noFill/>
          <a:ln w="19050">
            <a:solidFill>
              <a:srgbClr val="383838"/>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3" name="Google Shape;11;p2"/>
          <p:cNvSpPr/>
          <p:nvPr/>
        </p:nvSpPr>
        <p:spPr>
          <a:xfrm>
            <a:off x="0" y="1254960"/>
            <a:ext cx="4322520" cy="3890520"/>
          </a:xfrm>
          <a:prstGeom prst="rtTriangle">
            <a:avLst/>
          </a:prstGeom>
          <a:solidFill>
            <a:srgbClr val="dbdbdb"/>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4" name="Google Shape;12;p2"/>
          <p:cNvSpPr/>
          <p:nvPr/>
        </p:nvSpPr>
        <p:spPr>
          <a:xfrm flipH="1">
            <a:off x="1033560" y="0"/>
            <a:ext cx="10867320" cy="5143320"/>
          </a:xfrm>
          <a:prstGeom prst="triangle">
            <a:avLst>
              <a:gd name="adj" fmla="val 49850"/>
            </a:avLst>
          </a:prstGeom>
          <a:solidFill>
            <a:srgbClr val="383838"/>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5" name="PlaceHolder 1"/>
          <p:cNvSpPr>
            <a:spLocks noGrp="1"/>
          </p:cNvSpPr>
          <p:nvPr>
            <p:ph type="title"/>
          </p:nvPr>
        </p:nvSpPr>
        <p:spPr>
          <a:xfrm>
            <a:off x="3602880" y="1948320"/>
            <a:ext cx="4543200" cy="2052360"/>
          </a:xfrm>
          <a:prstGeom prst="rect">
            <a:avLst/>
          </a:prstGeom>
          <a:noFill/>
          <a:ln w="0">
            <a:noFill/>
          </a:ln>
        </p:spPr>
        <p:txBody>
          <a:bodyPr lIns="91440" rIns="91440" tIns="91440" bIns="91440" anchor="b">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
        <p:nvSpPr>
          <p:cNvPr id="6" name="PlaceHolder 2"/>
          <p:cNvSpPr>
            <a:spLocks noGrp="1"/>
          </p:cNvSpPr>
          <p:nvPr>
            <p:ph type="sldNum" idx="1"/>
          </p:nvPr>
        </p:nvSpPr>
        <p:spPr>
          <a:xfrm>
            <a:off x="8472600" y="4663080"/>
            <a:ext cx="548280" cy="393120"/>
          </a:xfrm>
          <a:prstGeom prst="rect">
            <a:avLst/>
          </a:prstGeom>
          <a:noFill/>
          <a:ln w="0">
            <a:noFill/>
          </a:ln>
        </p:spPr>
        <p:txBody>
          <a:bodyPr lIns="91440" rIns="91440" tIns="91440" bIns="91440" anchor="ctr">
            <a:noAutofit/>
          </a:bodyPr>
          <a:lstStyle>
            <a:lvl1pPr indent="0" algn="r" defTabSz="914400">
              <a:lnSpc>
                <a:spcPct val="100000"/>
              </a:lnSpc>
              <a:buNone/>
              <a:tabLst>
                <a:tab algn="l" pos="0"/>
              </a:tabLst>
              <a:defRPr b="0" lang="en" sz="1000" strike="noStrike" u="none">
                <a:solidFill>
                  <a:schemeClr val="dk2"/>
                </a:solidFill>
                <a:effectLst/>
                <a:uFillTx/>
                <a:latin typeface="Arial"/>
              </a:defRPr>
            </a:lvl1pPr>
          </a:lstStyle>
          <a:p>
            <a:pPr indent="0" algn="r" defTabSz="914400">
              <a:lnSpc>
                <a:spcPct val="100000"/>
              </a:lnSpc>
              <a:buNone/>
              <a:tabLst>
                <a:tab algn="l" pos="0"/>
              </a:tabLst>
            </a:pPr>
            <a:fld id="{3FB78F13-065C-4049-8D94-ED2E1A1BD6D5}" type="slidenum">
              <a:rPr b="0" lang="en" sz="1000" strike="noStrike" u="none">
                <a:solidFill>
                  <a:schemeClr val="dk2"/>
                </a:solidFill>
                <a:effectLst/>
                <a:uFillTx/>
                <a:latin typeface="Arial"/>
              </a:rPr>
              <a:t>&lt;number&gt;</a:t>
            </a:fld>
            <a:endParaRPr b="0" lang="en-US" sz="1000" strike="noStrike" u="none">
              <a:solidFill>
                <a:srgbClr val="000000"/>
              </a:solidFill>
              <a:effectLst/>
              <a:uFillTx/>
              <a:latin typeface="OpenSymbo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1_1_1">
    <p:bg>
      <p:bgPr>
        <a:solidFill>
          <a:schemeClr val="accent6"/>
        </a:solidFill>
      </p:bgPr>
    </p:bg>
    <p:spTree>
      <p:nvGrpSpPr>
        <p:cNvPr id="1" name=""/>
        <p:cNvGrpSpPr/>
        <p:nvPr/>
      </p:nvGrpSpPr>
      <p:grpSpPr>
        <a:xfrm>
          <a:off x="0" y="0"/>
          <a:ext cx="0" cy="0"/>
          <a:chOff x="0" y="0"/>
          <a:chExt cx="0" cy="0"/>
        </a:xfrm>
      </p:grpSpPr>
      <p:sp>
        <p:nvSpPr>
          <p:cNvPr id="8" name="Google Shape;62;p13"/>
          <p:cNvSpPr/>
          <p:nvPr/>
        </p:nvSpPr>
        <p:spPr>
          <a:xfrm flipH="1" rot="10800000">
            <a:off x="-2389680" y="-101880"/>
            <a:ext cx="13886640" cy="6572160"/>
          </a:xfrm>
          <a:prstGeom prst="triangle">
            <a:avLst>
              <a:gd name="adj" fmla="val 49850"/>
            </a:avLst>
          </a:prstGeom>
          <a:solidFill>
            <a:schemeClr val="dk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9" name="Google Shape;63;p13"/>
          <p:cNvSpPr/>
          <p:nvPr/>
        </p:nvSpPr>
        <p:spPr>
          <a:xfrm>
            <a:off x="-5262120" y="1545120"/>
            <a:ext cx="7035120" cy="3276720"/>
          </a:xfrm>
          <a:prstGeom prst="triangle">
            <a:avLst>
              <a:gd name="adj" fmla="val 50000"/>
            </a:avLst>
          </a:prstGeom>
          <a:noFill/>
          <a:ln w="19050">
            <a:solidFill>
              <a:srgbClr val="dbdbdb"/>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0" name="PlaceHolder 1"/>
          <p:cNvSpPr>
            <a:spLocks noGrp="1"/>
          </p:cNvSpPr>
          <p:nvPr>
            <p:ph type="body"/>
          </p:nvPr>
        </p:nvSpPr>
        <p:spPr>
          <a:xfrm>
            <a:off x="2434320" y="3133440"/>
            <a:ext cx="4275000" cy="137160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11" name="PlaceHolder 2"/>
          <p:cNvSpPr>
            <a:spLocks noGrp="1"/>
          </p:cNvSpPr>
          <p:nvPr>
            <p:ph type="title"/>
          </p:nvPr>
        </p:nvSpPr>
        <p:spPr>
          <a:xfrm>
            <a:off x="1726200" y="347400"/>
            <a:ext cx="5691240" cy="2644560"/>
          </a:xfrm>
          <a:prstGeom prst="rect">
            <a:avLst/>
          </a:prstGeom>
          <a:noFill/>
          <a:ln w="0">
            <a:noFill/>
          </a:ln>
        </p:spPr>
        <p:txBody>
          <a:bodyPr lIns="91440" rIns="91440" tIns="91440" bIns="91440" anchor="b">
            <a:noAutofit/>
          </a:bodyPr>
          <a:p>
            <a:pPr indent="0">
              <a:buNone/>
            </a:pPr>
            <a:r>
              <a:rPr b="0" lang="fr-FR" sz="8000" strike="noStrike" u="none">
                <a:solidFill>
                  <a:schemeClr val="dk1"/>
                </a:solidFill>
                <a:effectLst/>
                <a:uFillTx/>
                <a:latin typeface="Arial"/>
              </a:rPr>
              <a:t>Click to edit the title text format</a:t>
            </a:r>
            <a:endParaRPr b="0" lang="fr-FR" sz="8000" strike="noStrike" u="none">
              <a:solidFill>
                <a:schemeClr val="dk1"/>
              </a:solidFill>
              <a:effectLst/>
              <a:uFillTx/>
              <a:latin typeface="Arial"/>
            </a:endParaRPr>
          </a:p>
        </p:txBody>
      </p:sp>
      <p:sp>
        <p:nvSpPr>
          <p:cNvPr id="12" name="Google Shape;66;p13"/>
          <p:cNvSpPr/>
          <p:nvPr/>
        </p:nvSpPr>
        <p:spPr>
          <a:xfrm rot="10800000">
            <a:off x="6919560" y="-737640"/>
            <a:ext cx="3405600" cy="3301920"/>
          </a:xfrm>
          <a:prstGeom prst="rtTriangle">
            <a:avLst/>
          </a:prstGeom>
          <a:noFill/>
          <a:ln w="19050">
            <a:solidFill>
              <a:srgbClr val="eeeeee"/>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3" name="Google Shape;67;p13"/>
          <p:cNvSpPr/>
          <p:nvPr/>
        </p:nvSpPr>
        <p:spPr>
          <a:xfrm rot="10800000">
            <a:off x="7062480" y="-794880"/>
            <a:ext cx="3405600" cy="3301920"/>
          </a:xfrm>
          <a:prstGeom prst="rtTriangle">
            <a:avLst/>
          </a:pr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1">
    <p:bg>
      <p:bgPr>
        <a:solidFill>
          <a:schemeClr val="accent5"/>
        </a:solidFill>
      </p:bgPr>
    </p:bg>
    <p:spTree>
      <p:nvGrpSpPr>
        <p:cNvPr id="1" name=""/>
        <p:cNvGrpSpPr/>
        <p:nvPr/>
      </p:nvGrpSpPr>
      <p:grpSpPr>
        <a:xfrm>
          <a:off x="0" y="0"/>
          <a:ext cx="0" cy="0"/>
          <a:chOff x="0" y="0"/>
          <a:chExt cx="0" cy="0"/>
        </a:xfrm>
      </p:grpSpPr>
      <p:sp>
        <p:nvSpPr>
          <p:cNvPr id="14" name="Google Shape;123;p19"/>
          <p:cNvSpPr/>
          <p:nvPr/>
        </p:nvSpPr>
        <p:spPr>
          <a:xfrm>
            <a:off x="431280" y="695160"/>
            <a:ext cx="8281440" cy="4120920"/>
          </a:xfrm>
          <a:prstGeom prst="rect">
            <a:avLst/>
          </a:pr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5" name="Google Shape;124;p19"/>
          <p:cNvSpPr/>
          <p:nvPr/>
        </p:nvSpPr>
        <p:spPr>
          <a:xfrm rot="10800000">
            <a:off x="3133800" y="-22320"/>
            <a:ext cx="2876400" cy="1295280"/>
          </a:xfrm>
          <a:prstGeom prst="triangle">
            <a:avLst>
              <a:gd name="adj" fmla="val 50000"/>
            </a:avLst>
          </a:prstGeom>
          <a:solidFill>
            <a:schemeClr val="accen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6" name="PlaceHolder 1"/>
          <p:cNvSpPr>
            <a:spLocks noGrp="1"/>
          </p:cNvSpPr>
          <p:nvPr>
            <p:ph type="body"/>
          </p:nvPr>
        </p:nvSpPr>
        <p:spPr>
          <a:xfrm>
            <a:off x="948600" y="2351880"/>
            <a:ext cx="7246080" cy="20318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17" name="PlaceHolder 2"/>
          <p:cNvSpPr>
            <a:spLocks noGrp="1"/>
          </p:cNvSpPr>
          <p:nvPr>
            <p:ph type="title"/>
          </p:nvPr>
        </p:nvSpPr>
        <p:spPr>
          <a:xfrm>
            <a:off x="948600" y="1328040"/>
            <a:ext cx="7246080" cy="829800"/>
          </a:xfrm>
          <a:prstGeom prst="rect">
            <a:avLst/>
          </a:prstGeom>
          <a:noFill/>
          <a:ln w="0">
            <a:noFill/>
          </a:ln>
        </p:spPr>
        <p:txBody>
          <a:bodyPr lIns="91440" rIns="91440" tIns="91440" bIns="91440" anchor="ctr">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accent5"/>
        </a:solidFill>
      </p:bgPr>
    </p:bg>
    <p:spTree>
      <p:nvGrpSpPr>
        <p:cNvPr id="1" name=""/>
        <p:cNvGrpSpPr/>
        <p:nvPr/>
      </p:nvGrpSpPr>
      <p:grpSpPr>
        <a:xfrm>
          <a:off x="0" y="0"/>
          <a:ext cx="0" cy="0"/>
          <a:chOff x="0" y="0"/>
          <a:chExt cx="0" cy="0"/>
        </a:xfrm>
      </p:grpSpPr>
      <p:sp>
        <p:nvSpPr>
          <p:cNvPr id="18" name="Google Shape;20;p4"/>
          <p:cNvSpPr/>
          <p:nvPr/>
        </p:nvSpPr>
        <p:spPr>
          <a:xfrm flipH="1">
            <a:off x="5808600" y="1533960"/>
            <a:ext cx="4800240" cy="4800240"/>
          </a:xfrm>
          <a:prstGeom prst="rtTriangle">
            <a:avLst/>
          </a:prstGeom>
          <a:solidFill>
            <a:srgbClr val="383838"/>
          </a:solidFill>
          <a:ln w="9525">
            <a:solidFill>
              <a:srgbClr val="dbdbdb"/>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19" name="PlaceHolder 1"/>
          <p:cNvSpPr>
            <a:spLocks noGrp="1"/>
          </p:cNvSpPr>
          <p:nvPr>
            <p:ph type="title"/>
          </p:nvPr>
        </p:nvSpPr>
        <p:spPr>
          <a:xfrm>
            <a:off x="626400" y="597600"/>
            <a:ext cx="7891200" cy="572400"/>
          </a:xfrm>
          <a:prstGeom prst="rect">
            <a:avLst/>
          </a:prstGeom>
          <a:noFill/>
          <a:ln w="0">
            <a:noFill/>
          </a:ln>
        </p:spPr>
        <p:txBody>
          <a:bodyPr lIns="91440" rIns="91440" tIns="91440" bIns="91440" anchor="t">
            <a:noAutofit/>
          </a:bodyPr>
          <a:p>
            <a:pPr indent="0">
              <a:buNone/>
            </a:pPr>
            <a:r>
              <a:rPr b="0" lang="fr-FR" sz="2500" strike="noStrike" u="none">
                <a:solidFill>
                  <a:schemeClr val="dk1"/>
                </a:solidFill>
                <a:effectLst/>
                <a:uFillTx/>
                <a:latin typeface="Arial"/>
              </a:rPr>
              <a:t>Click to edit the title text format</a:t>
            </a:r>
            <a:endParaRPr b="0" lang="fr-FR" sz="2500" strike="noStrike" u="none">
              <a:solidFill>
                <a:schemeClr val="dk1"/>
              </a:solidFill>
              <a:effectLst/>
              <a:uFillTx/>
              <a:latin typeface="Arial"/>
            </a:endParaRPr>
          </a:p>
        </p:txBody>
      </p:sp>
      <p:sp>
        <p:nvSpPr>
          <p:cNvPr id="20" name="PlaceHolder 2"/>
          <p:cNvSpPr>
            <a:spLocks noGrp="1"/>
          </p:cNvSpPr>
          <p:nvPr>
            <p:ph type="body"/>
          </p:nvPr>
        </p:nvSpPr>
        <p:spPr>
          <a:xfrm>
            <a:off x="626400" y="1305000"/>
            <a:ext cx="7891200" cy="341604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21" name="PlaceHolder 3"/>
          <p:cNvSpPr>
            <a:spLocks noGrp="1"/>
          </p:cNvSpPr>
          <p:nvPr>
            <p:ph type="sldNum" idx="2"/>
          </p:nvPr>
        </p:nvSpPr>
        <p:spPr>
          <a:xfrm>
            <a:off x="8472600" y="4663080"/>
            <a:ext cx="548280" cy="393120"/>
          </a:xfrm>
          <a:prstGeom prst="rect">
            <a:avLst/>
          </a:prstGeom>
          <a:noFill/>
          <a:ln w="0">
            <a:noFill/>
          </a:ln>
        </p:spPr>
        <p:txBody>
          <a:bodyPr lIns="91440" rIns="91440" tIns="91440" bIns="91440" anchor="ctr">
            <a:noAutofit/>
          </a:bodyPr>
          <a:lstStyle>
            <a:lvl1pPr indent="0" algn="r" defTabSz="914400">
              <a:lnSpc>
                <a:spcPct val="100000"/>
              </a:lnSpc>
              <a:buNone/>
              <a:tabLst>
                <a:tab algn="l" pos="0"/>
              </a:tabLst>
              <a:defRPr b="0" lang="en" sz="1000" strike="noStrike" u="none">
                <a:solidFill>
                  <a:schemeClr val="dk2"/>
                </a:solidFill>
                <a:effectLst/>
                <a:uFillTx/>
                <a:latin typeface="Arial"/>
              </a:defRPr>
            </a:lvl1pPr>
          </a:lstStyle>
          <a:p>
            <a:pPr indent="0" algn="r" defTabSz="914400">
              <a:lnSpc>
                <a:spcPct val="100000"/>
              </a:lnSpc>
              <a:buNone/>
              <a:tabLst>
                <a:tab algn="l" pos="0"/>
              </a:tabLst>
            </a:pPr>
            <a:fld id="{000858FE-7FD2-40CF-A982-C98027A253AD}" type="slidenum">
              <a:rPr b="0" lang="en" sz="1000" strike="noStrike" u="none">
                <a:solidFill>
                  <a:schemeClr val="dk2"/>
                </a:solidFill>
                <a:effectLst/>
                <a:uFillTx/>
                <a:latin typeface="Arial"/>
              </a:rPr>
              <a:t>&lt;number&gt;</a:t>
            </a:fld>
            <a:endParaRPr b="0" lang="en-US" sz="1000" strike="noStrike" u="none">
              <a:solidFill>
                <a:srgbClr val="000000"/>
              </a:solidFill>
              <a:effectLst/>
              <a:uFillTx/>
              <a:latin typeface="OpenSymbo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8">
    <p:bg>
      <p:bgPr>
        <a:solidFill>
          <a:srgbClr val="000000"/>
        </a:solidFill>
      </p:bgPr>
    </p:bg>
    <p:spTree>
      <p:nvGrpSpPr>
        <p:cNvPr id="1" name=""/>
        <p:cNvGrpSpPr/>
        <p:nvPr/>
      </p:nvGrpSpPr>
      <p:grpSpPr>
        <a:xfrm>
          <a:off x="0" y="0"/>
          <a:ext cx="0" cy="0"/>
          <a:chOff x="0" y="0"/>
          <a:chExt cx="0" cy="0"/>
        </a:xfrm>
      </p:grpSpPr>
      <p:sp>
        <p:nvSpPr>
          <p:cNvPr id="22" name="Google Shape;330;p43"/>
          <p:cNvSpPr/>
          <p:nvPr/>
        </p:nvSpPr>
        <p:spPr>
          <a:xfrm>
            <a:off x="4165560" y="2820600"/>
            <a:ext cx="8076960" cy="3875400"/>
          </a:xfrm>
          <a:prstGeom prst="triangle">
            <a:avLst>
              <a:gd name="adj" fmla="val 50000"/>
            </a:avLst>
          </a:prstGeom>
          <a:noFill/>
          <a:ln w="19050">
            <a:solidFill>
              <a:srgbClr val="eeeeee"/>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3" name="Google Shape;331;p43"/>
          <p:cNvSpPr/>
          <p:nvPr/>
        </p:nvSpPr>
        <p:spPr>
          <a:xfrm rot="10800000">
            <a:off x="-1006200" y="-294480"/>
            <a:ext cx="4029120" cy="1933200"/>
          </a:xfrm>
          <a:prstGeom prst="triangle">
            <a:avLst>
              <a:gd name="adj" fmla="val 50000"/>
            </a:avLst>
          </a:pr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24" name="PlaceHolder 1"/>
          <p:cNvSpPr>
            <a:spLocks noGrp="1"/>
          </p:cNvSpPr>
          <p:nvPr>
            <p:ph type="title"/>
          </p:nvPr>
        </p:nvSpPr>
        <p:spPr>
          <a:xfrm>
            <a:off x="713160" y="672840"/>
            <a:ext cx="7717320" cy="1296360"/>
          </a:xfrm>
          <a:prstGeom prst="rect">
            <a:avLst/>
          </a:prstGeom>
          <a:noFill/>
          <a:ln w="0">
            <a:noFill/>
          </a:ln>
        </p:spPr>
        <p:txBody>
          <a:bodyPr lIns="91440" rIns="91440" tIns="91440" bIns="91440" anchor="t">
            <a:noAutofit/>
          </a:bodyPr>
          <a:p>
            <a:pPr indent="0">
              <a:buNone/>
            </a:pPr>
            <a:r>
              <a:rPr b="0" lang="fr-FR" sz="5000" strike="noStrike" u="none">
                <a:solidFill>
                  <a:schemeClr val="dk1"/>
                </a:solidFill>
                <a:effectLst/>
                <a:uFillTx/>
                <a:latin typeface="Arial"/>
              </a:rPr>
              <a:t>Click to edit the title text format</a:t>
            </a:r>
            <a:endParaRPr b="0" lang="fr-FR" sz="5000" strike="noStrike" u="none">
              <a:solidFill>
                <a:schemeClr val="dk1"/>
              </a:solidFill>
              <a:effectLst/>
              <a:uFillTx/>
              <a:latin typeface="Arial"/>
            </a:endParaRPr>
          </a:p>
        </p:txBody>
      </p:sp>
      <p:sp>
        <p:nvSpPr>
          <p:cNvPr id="25" name="PlaceHolder 2"/>
          <p:cNvSpPr>
            <a:spLocks noGrp="1"/>
          </p:cNvSpPr>
          <p:nvPr>
            <p:ph type="body"/>
          </p:nvPr>
        </p:nvSpPr>
        <p:spPr>
          <a:xfrm>
            <a:off x="3068280" y="2129400"/>
            <a:ext cx="3007080" cy="69048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26" name="Google Shape;334;p43"/>
          <p:cNvSpPr/>
          <p:nvPr/>
        </p:nvSpPr>
        <p:spPr>
          <a:xfrm>
            <a:off x="2483640" y="3392640"/>
            <a:ext cx="4176720" cy="690480"/>
          </a:xfrm>
          <a:prstGeom prst="rect">
            <a:avLst/>
          </a:prstGeom>
          <a:noFill/>
          <a:ln w="0">
            <a:noFill/>
          </a:ln>
        </p:spPr>
        <p:style>
          <a:lnRef idx="0"/>
          <a:fillRef idx="0"/>
          <a:effectRef idx="0"/>
          <a:fontRef idx="minor"/>
        </p:style>
        <p:txBody>
          <a:bodyPr tIns="91440" bIns="91440" anchor="t">
            <a:noAutofit/>
          </a:bodyPr>
          <a:p>
            <a:pPr algn="ctr" defTabSz="914400">
              <a:lnSpc>
                <a:spcPct val="100000"/>
              </a:lnSpc>
              <a:tabLst>
                <a:tab algn="l" pos="0"/>
              </a:tabLst>
            </a:pPr>
            <a:r>
              <a:rPr b="0" lang="en" sz="1100" strike="noStrike" u="none">
                <a:solidFill>
                  <a:schemeClr val="lt1"/>
                </a:solidFill>
                <a:effectLst/>
                <a:uFillTx/>
                <a:latin typeface="Didact Gothic"/>
                <a:ea typeface="Didact Gothic"/>
              </a:rPr>
              <a:t>CREDITS: This presentation template was created by </a:t>
            </a:r>
            <a:r>
              <a:rPr b="1" lang="en" sz="1100" strike="noStrike" u="sng">
                <a:solidFill>
                  <a:schemeClr val="lt1"/>
                </a:solidFill>
                <a:effectLst/>
                <a:uFillTx/>
                <a:latin typeface="Didact Gothic"/>
                <a:ea typeface="Didact Gothic"/>
                <a:hlinkClick r:id="rId2"/>
              </a:rPr>
              <a:t>Slidesgo</a:t>
            </a:r>
            <a:r>
              <a:rPr b="0" lang="en" sz="1100" strike="noStrike" u="none">
                <a:solidFill>
                  <a:schemeClr val="lt1"/>
                </a:solidFill>
                <a:effectLst/>
                <a:uFillTx/>
                <a:latin typeface="Didact Gothic"/>
                <a:ea typeface="Didact Gothic"/>
              </a:rPr>
              <a:t>, including icons, infographics &amp; images by </a:t>
            </a:r>
            <a:r>
              <a:rPr b="1" lang="en" sz="1100" strike="noStrike" u="sng">
                <a:solidFill>
                  <a:schemeClr val="lt1"/>
                </a:solidFill>
                <a:effectLst/>
                <a:uFillTx/>
                <a:latin typeface="Didact Gothic"/>
                <a:ea typeface="Didact Gothic"/>
                <a:hlinkClick r:id="rId3"/>
              </a:rPr>
              <a:t>Freepik</a:t>
            </a:r>
            <a:r>
              <a:rPr b="0" lang="en" sz="1100" strike="noStrike" u="none">
                <a:solidFill>
                  <a:schemeClr val="lt1"/>
                </a:solidFill>
                <a:effectLst/>
                <a:uFillTx/>
                <a:latin typeface="Didact Gothic"/>
                <a:ea typeface="Didact Gothic"/>
              </a:rPr>
              <a:t> </a:t>
            </a:r>
            <a:endParaRPr b="0" lang="en-US" sz="1100" strike="noStrike" u="none">
              <a:solidFill>
                <a:srgbClr val="ffffff"/>
              </a:solidFill>
              <a:effectLst/>
              <a:uFillTx/>
              <a:latin typeface="OpenSymbo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1_1_3">
    <p:bg>
      <p:bgPr>
        <a:solidFill>
          <a:srgbClr val="000000"/>
        </a:solidFill>
      </p:bgPr>
    </p:bg>
    <p:spTree>
      <p:nvGrpSpPr>
        <p:cNvPr id="1" name=""/>
        <p:cNvGrpSpPr/>
        <p:nvPr/>
      </p:nvGrpSpPr>
      <p:grpSpPr>
        <a:xfrm>
          <a:off x="0" y="0"/>
          <a:ext cx="0" cy="0"/>
          <a:chOff x="0" y="0"/>
          <a:chExt cx="0" cy="0"/>
        </a:xfrm>
      </p:grpSpPr>
      <p:sp>
        <p:nvSpPr>
          <p:cNvPr id="27" name="PlaceHolder 1"/>
          <p:cNvSpPr>
            <a:spLocks noGrp="1"/>
          </p:cNvSpPr>
          <p:nvPr>
            <p:ph type="body"/>
          </p:nvPr>
        </p:nvSpPr>
        <p:spPr>
          <a:xfrm>
            <a:off x="713160" y="2347920"/>
            <a:ext cx="4941360" cy="2257560"/>
          </a:xfrm>
          <a:prstGeom prst="rect">
            <a:avLst/>
          </a:prstGeom>
          <a:noFill/>
          <a:ln w="0">
            <a:noFill/>
          </a:ln>
        </p:spPr>
        <p:txBody>
          <a:bodyPr lIns="91440" rIns="91440" tIns="91440" bIns="91440" anchor="t">
            <a:noAutofit/>
          </a:bodyPr>
          <a:p>
            <a:pPr marL="432000" indent="-324000">
              <a:spcBef>
                <a:spcPts val="1417"/>
              </a:spcBef>
              <a:buClr>
                <a:srgbClr val="ffffff"/>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Fifth Outline Level</a:t>
            </a:r>
            <a:endParaRPr b="0" lang="fr-FR" sz="14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Sixth Outline Level</a:t>
            </a:r>
            <a:endParaRPr b="0" lang="fr-FR" sz="14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400" strike="noStrike" u="none">
                <a:solidFill>
                  <a:srgbClr val="000000"/>
                </a:solidFill>
                <a:effectLst/>
                <a:uFillTx/>
                <a:latin typeface="Arial"/>
              </a:rPr>
              <a:t>Seventh Outline Level</a:t>
            </a:r>
            <a:endParaRPr b="0" lang="fr-FR" sz="1400" strike="noStrike" u="none">
              <a:solidFill>
                <a:srgbClr val="000000"/>
              </a:solidFill>
              <a:effectLst/>
              <a:uFillTx/>
              <a:latin typeface="Arial"/>
            </a:endParaRPr>
          </a:p>
        </p:txBody>
      </p:sp>
      <p:sp>
        <p:nvSpPr>
          <p:cNvPr id="28" name="PlaceHolder 2"/>
          <p:cNvSpPr>
            <a:spLocks noGrp="1"/>
          </p:cNvSpPr>
          <p:nvPr>
            <p:ph type="title"/>
          </p:nvPr>
        </p:nvSpPr>
        <p:spPr>
          <a:xfrm>
            <a:off x="713160" y="1060920"/>
            <a:ext cx="5218560" cy="98892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29" name="Google Shape;351;p46"/>
          <p:cNvSpPr/>
          <p:nvPr/>
        </p:nvSpPr>
        <p:spPr>
          <a:xfrm rot="5400000">
            <a:off x="-760680" y="-790560"/>
            <a:ext cx="3405600" cy="3301920"/>
          </a:xfrm>
          <a:prstGeom prst="rtTriangle">
            <a:avLst/>
          </a:prstGeom>
          <a:noFill/>
          <a:ln w="19050">
            <a:solidFill>
              <a:srgbClr val="dbdbdb"/>
            </a:solidFill>
            <a:round/>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0" name="Google Shape;352;p46"/>
          <p:cNvSpPr/>
          <p:nvPr/>
        </p:nvSpPr>
        <p:spPr>
          <a:xfrm rot="5400000">
            <a:off x="-855720" y="-1009440"/>
            <a:ext cx="3405600" cy="3301920"/>
          </a:xfrm>
          <a:prstGeom prst="rtTriangle">
            <a:avLst/>
          </a:prstGeom>
          <a:solidFill>
            <a:schemeClr val="lt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ffffff"/>
              </a:solidFill>
              <a:effectLst/>
              <a:uFillTx/>
              <a:latin typeface="OpenSymbol"/>
            </a:endParaRPr>
          </a:p>
        </p:txBody>
      </p:sp>
      <p:sp>
        <p:nvSpPr>
          <p:cNvPr id="31" name="Google Shape;353;p46"/>
          <p:cNvSpPr/>
          <p:nvPr/>
        </p:nvSpPr>
        <p:spPr>
          <a:xfrm rot="16200000">
            <a:off x="2896920" y="288360"/>
            <a:ext cx="10140840" cy="4567320"/>
          </a:xfrm>
          <a:prstGeom prst="triangle">
            <a:avLst>
              <a:gd name="adj" fmla="val 50000"/>
            </a:avLst>
          </a:prstGeom>
          <a:solidFill>
            <a:schemeClr val="dk2"/>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2" name="Google Shape;441;p63"/>
          <p:cNvCxnSpPr/>
          <p:nvPr/>
        </p:nvCxnSpPr>
        <p:spPr>
          <a:xfrm>
            <a:off x="7401960" y="4016520"/>
            <a:ext cx="647640" cy="360"/>
          </a:xfrm>
          <a:prstGeom prst="straightConnector1">
            <a:avLst/>
          </a:prstGeom>
          <a:ln w="19050">
            <a:solidFill>
              <a:srgbClr val="eeeeee"/>
            </a:solidFill>
            <a:round/>
          </a:ln>
        </p:spPr>
      </p:cxnSp>
      <p:sp>
        <p:nvSpPr>
          <p:cNvPr id="33" name=""/>
          <p:cNvSpPr/>
          <p:nvPr/>
        </p:nvSpPr>
        <p:spPr>
          <a:xfrm>
            <a:off x="3600360" y="1952640"/>
            <a:ext cx="4543200" cy="1018800"/>
          </a:xfrm>
          <a:prstGeom prst="rect">
            <a:avLst/>
          </a:prstGeom>
          <a:noFill/>
          <a:ln w="0">
            <a:noFill/>
          </a:ln>
        </p:spPr>
        <p:style>
          <a:lnRef idx="0"/>
          <a:fillRef idx="0"/>
          <a:effectRef idx="0"/>
          <a:fontRef idx="minor"/>
        </p:style>
        <p:txBody>
          <a:bodyPr anchor="b">
            <a:normAutofit/>
          </a:bodyPr>
          <a:p>
            <a:pPr algn="r" defTabSz="914400">
              <a:lnSpc>
                <a:spcPct val="100000"/>
              </a:lnSpc>
              <a:tabLst>
                <a:tab algn="l" pos="0"/>
              </a:tabLst>
            </a:pPr>
            <a:r>
              <a:rPr b="0" lang="en-US" sz="4000" strike="noStrike" u="none">
                <a:solidFill>
                  <a:srgbClr val="ffffff"/>
                </a:solidFill>
                <a:effectLst/>
                <a:uFillTx/>
                <a:latin typeface="Julius Sans One"/>
              </a:rPr>
              <a:t>Superstore Analysis</a:t>
            </a:r>
            <a:endParaRPr b="0" lang="en-US" sz="4000" strike="noStrike" u="none">
              <a:solidFill>
                <a:srgbClr val="000000"/>
              </a:solidFill>
              <a:effectLst/>
              <a:uFillTx/>
              <a:latin typeface="OpenSymbol"/>
            </a:endParaRPr>
          </a:p>
        </p:txBody>
      </p:sp>
      <p:sp>
        <p:nvSpPr>
          <p:cNvPr id="34" name=""/>
          <p:cNvSpPr/>
          <p:nvPr/>
        </p:nvSpPr>
        <p:spPr>
          <a:xfrm>
            <a:off x="2314440" y="4038480"/>
            <a:ext cx="5829120" cy="418680"/>
          </a:xfrm>
          <a:prstGeom prst="rect">
            <a:avLst/>
          </a:prstGeom>
          <a:noFill/>
          <a:ln w="0">
            <a:noFill/>
          </a:ln>
        </p:spPr>
        <p:style>
          <a:lnRef idx="0"/>
          <a:fillRef idx="0"/>
          <a:effectRef idx="0"/>
          <a:fontRef idx="minor"/>
        </p:style>
        <p:txBody>
          <a:bodyPr anchor="t">
            <a:normAutofit/>
          </a:bodyPr>
          <a:p>
            <a:pPr algn="r" defTabSz="914400">
              <a:lnSpc>
                <a:spcPct val="150000"/>
              </a:lnSpc>
              <a:tabLst>
                <a:tab algn="l" pos="0"/>
              </a:tabLst>
            </a:pPr>
            <a:r>
              <a:rPr b="0" lang="en-US" sz="1400" strike="noStrike" u="none">
                <a:solidFill>
                  <a:srgbClr val="ffffff"/>
                </a:solidFill>
                <a:effectLst/>
                <a:uFillTx/>
                <a:latin typeface="Questrial"/>
              </a:rPr>
              <a:t>Data storytelling with statistical validation for business action</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35" name="Google Shape;455;p65"/>
          <p:cNvCxnSpPr/>
          <p:nvPr/>
        </p:nvCxnSpPr>
        <p:spPr>
          <a:xfrm>
            <a:off x="4248360" y="3035160"/>
            <a:ext cx="647280" cy="360"/>
          </a:xfrm>
          <a:prstGeom prst="straightConnector1">
            <a:avLst/>
          </a:prstGeom>
          <a:ln w="19050">
            <a:solidFill>
              <a:srgbClr val="eeeeee"/>
            </a:solidFill>
            <a:round/>
          </a:ln>
        </p:spPr>
      </p:cxnSp>
      <p:sp>
        <p:nvSpPr>
          <p:cNvPr id="36" name=""/>
          <p:cNvSpPr/>
          <p:nvPr/>
        </p:nvSpPr>
        <p:spPr>
          <a:xfrm>
            <a:off x="1724040" y="343080"/>
            <a:ext cx="5695560" cy="1523520"/>
          </a:xfrm>
          <a:prstGeom prst="rect">
            <a:avLst/>
          </a:prstGeom>
          <a:noFill/>
          <a:ln w="0">
            <a:noFill/>
          </a:ln>
        </p:spPr>
        <p:style>
          <a:lnRef idx="0"/>
          <a:fillRef idx="0"/>
          <a:effectRef idx="0"/>
          <a:fontRef idx="minor"/>
        </p:style>
        <p:txBody>
          <a:bodyPr anchor="b">
            <a:normAutofit/>
          </a:bodyPr>
          <a:p>
            <a:pPr algn="ctr" defTabSz="914400">
              <a:lnSpc>
                <a:spcPct val="100000"/>
              </a:lnSpc>
              <a:tabLst>
                <a:tab algn="l" pos="0"/>
              </a:tabLst>
            </a:pPr>
            <a:r>
              <a:rPr b="1" lang="en-US" sz="6000" strike="noStrike" u="none">
                <a:solidFill>
                  <a:srgbClr val="eeeeee"/>
                </a:solidFill>
                <a:effectLst/>
                <a:uFillTx/>
                <a:latin typeface="Julius Sans One"/>
              </a:rPr>
              <a:t>Project Context</a:t>
            </a:r>
            <a:endParaRPr b="0" lang="en-US" sz="6000" strike="noStrike" u="none">
              <a:solidFill>
                <a:srgbClr val="000000"/>
              </a:solidFill>
              <a:effectLst/>
              <a:uFillTx/>
              <a:latin typeface="OpenSymbol"/>
            </a:endParaRPr>
          </a:p>
        </p:txBody>
      </p:sp>
      <p:sp>
        <p:nvSpPr>
          <p:cNvPr id="37" name=""/>
          <p:cNvSpPr/>
          <p:nvPr/>
        </p:nvSpPr>
        <p:spPr>
          <a:xfrm>
            <a:off x="2438280" y="3133800"/>
            <a:ext cx="4276440" cy="1866600"/>
          </a:xfrm>
          <a:prstGeom prst="rect">
            <a:avLst/>
          </a:prstGeom>
          <a:noFill/>
          <a:ln w="0">
            <a:noFill/>
          </a:ln>
        </p:spPr>
        <p:style>
          <a:lnRef idx="0"/>
          <a:fillRef idx="0"/>
          <a:effectRef idx="0"/>
          <a:fontRef idx="minor"/>
        </p:style>
        <p:txBody>
          <a:bodyPr anchor="t">
            <a:normAutofit lnSpcReduction="9999"/>
          </a:bodyPr>
          <a:p>
            <a:pPr algn="ctr" defTabSz="914400">
              <a:lnSpc>
                <a:spcPct val="150000"/>
              </a:lnSpc>
              <a:tabLst>
                <a:tab algn="l" pos="0"/>
              </a:tabLst>
            </a:pPr>
            <a:r>
              <a:rPr b="0" lang="en-US" sz="1400" strike="noStrike" u="none">
                <a:solidFill>
                  <a:srgbClr val="eeeeee"/>
                </a:solidFill>
                <a:effectLst/>
                <a:uFillTx/>
                <a:latin typeface="Didact Gothic"/>
              </a:rPr>
              <a:t>Structured analysis of Superstore transactions turns operational data into actionable decisions. This approach translates sales and profit signals into prioritized business actions. The dataset covers sales, profit, discount, product, customer, shipping, and regional attributes, enabling region, category, and pricing insights for action.</a:t>
            </a:r>
            <a:endParaRPr b="0" lang="en-US" sz="14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
          <p:cNvSpPr/>
          <p:nvPr/>
        </p:nvSpPr>
        <p:spPr>
          <a:xfrm>
            <a:off x="4952880" y="343080"/>
            <a:ext cx="3714480" cy="129492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39" name=""/>
          <p:cNvSpPr/>
          <p:nvPr/>
        </p:nvSpPr>
        <p:spPr>
          <a:xfrm>
            <a:off x="4952880" y="1847880"/>
            <a:ext cx="3714480" cy="129492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0" name=""/>
          <p:cNvSpPr/>
          <p:nvPr/>
        </p:nvSpPr>
        <p:spPr>
          <a:xfrm>
            <a:off x="4952880" y="3352680"/>
            <a:ext cx="3714480" cy="129492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41" name=""/>
          <p:cNvSpPr/>
          <p:nvPr/>
        </p:nvSpPr>
        <p:spPr>
          <a:xfrm>
            <a:off x="476280" y="380880"/>
            <a:ext cx="3619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Julius Sans One"/>
              </a:rPr>
              <a:t>Data Readiness</a:t>
            </a:r>
            <a:endParaRPr b="0" lang="en-US" sz="2400" strike="noStrike" u="none">
              <a:solidFill>
                <a:srgbClr val="000000"/>
              </a:solidFill>
              <a:effectLst/>
              <a:uFillTx/>
              <a:latin typeface="OpenSymbol"/>
            </a:endParaRPr>
          </a:p>
        </p:txBody>
      </p:sp>
      <p:sp>
        <p:nvSpPr>
          <p:cNvPr id="42" name=""/>
          <p:cNvSpPr/>
          <p:nvPr/>
        </p:nvSpPr>
        <p:spPr>
          <a:xfrm>
            <a:off x="476280" y="3429000"/>
            <a:ext cx="3619080" cy="12758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Didact Gothic"/>
              </a:rPr>
              <a:t>Dataset is cleaned, standardized, and ready for exploratory and descriptive analytics.</a:t>
            </a:r>
            <a:endParaRPr b="0" lang="en-US" sz="1400" strike="noStrike" u="none">
              <a:solidFill>
                <a:srgbClr val="000000"/>
              </a:solidFill>
              <a:effectLst/>
              <a:uFillTx/>
              <a:latin typeface="OpenSymbol"/>
            </a:endParaRPr>
          </a:p>
          <a:p>
            <a:pPr defTabSz="914400">
              <a:lnSpc>
                <a:spcPct val="100000"/>
              </a:lnSpc>
              <a:tabLst>
                <a:tab algn="l" pos="0"/>
              </a:tabLst>
            </a:pPr>
            <a:endParaRPr b="0" lang="en-US" sz="1400" strike="noStrike" u="none">
              <a:solidFill>
                <a:srgbClr val="000000"/>
              </a:solidFill>
              <a:effectLst/>
              <a:uFillTx/>
              <a:latin typeface="OpenSymbol"/>
            </a:endParaRPr>
          </a:p>
          <a:p>
            <a:pPr defTabSz="914400">
              <a:lnSpc>
                <a:spcPct val="100000"/>
              </a:lnSpc>
              <a:tabLst>
                <a:tab algn="l" pos="0"/>
              </a:tabLst>
            </a:pPr>
            <a:r>
              <a:rPr b="0" lang="en-US" sz="1400" strike="noStrike" u="none">
                <a:solidFill>
                  <a:srgbClr val="000000"/>
                </a:solidFill>
                <a:effectLst/>
                <a:uFillTx/>
                <a:latin typeface="Didact Gothic"/>
              </a:rPr>
              <a:t>Prepared for statistical testing with documented data quality checks and consistency controls.</a:t>
            </a:r>
            <a:endParaRPr b="0" lang="en-US" sz="1400" strike="noStrike" u="none">
              <a:solidFill>
                <a:srgbClr val="000000"/>
              </a:solidFill>
              <a:effectLst/>
              <a:uFillTx/>
              <a:latin typeface="OpenSymbol"/>
            </a:endParaRPr>
          </a:p>
        </p:txBody>
      </p:sp>
      <p:sp>
        <p:nvSpPr>
          <p:cNvPr id="43" name=""/>
          <p:cNvSpPr/>
          <p:nvPr/>
        </p:nvSpPr>
        <p:spPr>
          <a:xfrm>
            <a:off x="5219640" y="380880"/>
            <a:ext cx="318096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3600" strike="noStrike" u="none">
                <a:solidFill>
                  <a:srgbClr val="eeeeee"/>
                </a:solidFill>
                <a:effectLst/>
                <a:uFillTx/>
                <a:latin typeface="Julius Sans One"/>
              </a:rPr>
              <a:t>9,994</a:t>
            </a:r>
            <a:endParaRPr b="0" lang="en-US" sz="3600" strike="noStrike" u="none">
              <a:solidFill>
                <a:srgbClr val="000000"/>
              </a:solidFill>
              <a:effectLst/>
              <a:uFillTx/>
              <a:latin typeface="OpenSymbol"/>
            </a:endParaRPr>
          </a:p>
        </p:txBody>
      </p:sp>
      <p:sp>
        <p:nvSpPr>
          <p:cNvPr id="44" name=""/>
          <p:cNvSpPr/>
          <p:nvPr/>
        </p:nvSpPr>
        <p:spPr>
          <a:xfrm>
            <a:off x="5219640" y="990720"/>
            <a:ext cx="3180960" cy="180720"/>
          </a:xfrm>
          <a:prstGeom prst="rect">
            <a:avLst/>
          </a:prstGeom>
          <a:noFill/>
          <a:ln w="0">
            <a:noFill/>
          </a:ln>
        </p:spPr>
        <p:style>
          <a:lnRef idx="0"/>
          <a:fillRef idx="0"/>
          <a:effectRef idx="0"/>
          <a:fontRef idx="minor"/>
        </p:style>
        <p:txBody>
          <a:bodyPr anchor="t">
            <a:normAutofit fontScale="55000" lnSpcReduction="19999"/>
          </a:bodyPr>
          <a:p>
            <a:pPr defTabSz="914400">
              <a:lnSpc>
                <a:spcPct val="100000"/>
              </a:lnSpc>
              <a:tabLst>
                <a:tab algn="l" pos="0"/>
              </a:tabLst>
            </a:pPr>
            <a:r>
              <a:rPr b="0" lang="en-US" sz="1200" strike="noStrike" u="none">
                <a:solidFill>
                  <a:srgbClr val="eeeeee"/>
                </a:solidFill>
                <a:effectLst/>
                <a:uFillTx/>
                <a:latin typeface="Questrial"/>
              </a:rPr>
              <a:t>Total records available for analysis.</a:t>
            </a:r>
            <a:endParaRPr b="0" lang="en-US" sz="1200" strike="noStrike" u="none">
              <a:solidFill>
                <a:srgbClr val="000000"/>
              </a:solidFill>
              <a:effectLst/>
              <a:uFillTx/>
              <a:latin typeface="OpenSymbol"/>
            </a:endParaRPr>
          </a:p>
        </p:txBody>
      </p:sp>
      <p:sp>
        <p:nvSpPr>
          <p:cNvPr id="45" name=""/>
          <p:cNvSpPr/>
          <p:nvPr/>
        </p:nvSpPr>
        <p:spPr>
          <a:xfrm>
            <a:off x="5219640" y="1886040"/>
            <a:ext cx="318096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3600" strike="noStrike" u="none">
                <a:solidFill>
                  <a:srgbClr val="eeeeee"/>
                </a:solidFill>
                <a:effectLst/>
                <a:uFillTx/>
                <a:latin typeface="Julius Sans One"/>
              </a:rPr>
              <a:t>21</a:t>
            </a:r>
            <a:endParaRPr b="0" lang="en-US" sz="3600" strike="noStrike" u="none">
              <a:solidFill>
                <a:srgbClr val="000000"/>
              </a:solidFill>
              <a:effectLst/>
              <a:uFillTx/>
              <a:latin typeface="OpenSymbol"/>
            </a:endParaRPr>
          </a:p>
        </p:txBody>
      </p:sp>
      <p:sp>
        <p:nvSpPr>
          <p:cNvPr id="46" name=""/>
          <p:cNvSpPr/>
          <p:nvPr/>
        </p:nvSpPr>
        <p:spPr>
          <a:xfrm>
            <a:off x="5219640" y="2495520"/>
            <a:ext cx="3180960" cy="180720"/>
          </a:xfrm>
          <a:prstGeom prst="rect">
            <a:avLst/>
          </a:prstGeom>
          <a:noFill/>
          <a:ln w="0">
            <a:noFill/>
          </a:ln>
        </p:spPr>
        <p:style>
          <a:lnRef idx="0"/>
          <a:fillRef idx="0"/>
          <a:effectRef idx="0"/>
          <a:fontRef idx="minor"/>
        </p:style>
        <p:txBody>
          <a:bodyPr anchor="t">
            <a:normAutofit fontScale="55000" lnSpcReduction="19999"/>
          </a:bodyPr>
          <a:p>
            <a:pPr defTabSz="914400">
              <a:lnSpc>
                <a:spcPct val="100000"/>
              </a:lnSpc>
              <a:tabLst>
                <a:tab algn="l" pos="0"/>
              </a:tabLst>
            </a:pPr>
            <a:r>
              <a:rPr b="0" lang="en-US" sz="1200" strike="noStrike" u="none">
                <a:solidFill>
                  <a:srgbClr val="eeeeee"/>
                </a:solidFill>
                <a:effectLst/>
                <a:uFillTx/>
                <a:latin typeface="Questrial"/>
              </a:rPr>
              <a:t>Number of feature columns.</a:t>
            </a:r>
            <a:endParaRPr b="0" lang="en-US" sz="1200" strike="noStrike" u="none">
              <a:solidFill>
                <a:srgbClr val="000000"/>
              </a:solidFill>
              <a:effectLst/>
              <a:uFillTx/>
              <a:latin typeface="OpenSymbol"/>
            </a:endParaRPr>
          </a:p>
        </p:txBody>
      </p:sp>
      <p:sp>
        <p:nvSpPr>
          <p:cNvPr id="47" name=""/>
          <p:cNvSpPr/>
          <p:nvPr/>
        </p:nvSpPr>
        <p:spPr>
          <a:xfrm>
            <a:off x="5219640" y="3390840"/>
            <a:ext cx="3180960" cy="55224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3600" strike="noStrike" u="none">
                <a:solidFill>
                  <a:srgbClr val="eeeeee"/>
                </a:solidFill>
                <a:effectLst/>
                <a:uFillTx/>
                <a:latin typeface="Julius Sans One"/>
              </a:rPr>
              <a:t>0</a:t>
            </a:r>
            <a:endParaRPr b="0" lang="en-US" sz="3600" strike="noStrike" u="none">
              <a:solidFill>
                <a:srgbClr val="000000"/>
              </a:solidFill>
              <a:effectLst/>
              <a:uFillTx/>
              <a:latin typeface="OpenSymbol"/>
            </a:endParaRPr>
          </a:p>
        </p:txBody>
      </p:sp>
      <p:sp>
        <p:nvSpPr>
          <p:cNvPr id="48" name=""/>
          <p:cNvSpPr/>
          <p:nvPr/>
        </p:nvSpPr>
        <p:spPr>
          <a:xfrm>
            <a:off x="5219640" y="4000680"/>
            <a:ext cx="3180960" cy="180720"/>
          </a:xfrm>
          <a:prstGeom prst="rect">
            <a:avLst/>
          </a:prstGeom>
          <a:noFill/>
          <a:ln w="0">
            <a:noFill/>
          </a:ln>
        </p:spPr>
        <p:style>
          <a:lnRef idx="0"/>
          <a:fillRef idx="0"/>
          <a:effectRef idx="0"/>
          <a:fontRef idx="minor"/>
        </p:style>
        <p:txBody>
          <a:bodyPr anchor="t">
            <a:normAutofit fontScale="55000" lnSpcReduction="19999"/>
          </a:bodyPr>
          <a:p>
            <a:pPr defTabSz="914400">
              <a:lnSpc>
                <a:spcPct val="100000"/>
              </a:lnSpc>
              <a:tabLst>
                <a:tab algn="l" pos="0"/>
              </a:tabLst>
            </a:pPr>
            <a:r>
              <a:rPr b="0" lang="en-US" sz="1200" strike="noStrike" u="none">
                <a:solidFill>
                  <a:srgbClr val="eeeeee"/>
                </a:solidFill>
                <a:effectLst/>
                <a:uFillTx/>
                <a:latin typeface="Questrial"/>
              </a:rPr>
              <a:t>Fields with missing values.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
          <p:cNvSpPr/>
          <p:nvPr/>
        </p:nvSpPr>
        <p:spPr>
          <a:xfrm>
            <a:off x="476280" y="1866960"/>
            <a:ext cx="191412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0" name=""/>
          <p:cNvSpPr/>
          <p:nvPr/>
        </p:nvSpPr>
        <p:spPr>
          <a:xfrm>
            <a:off x="2523960" y="1866960"/>
            <a:ext cx="191412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1" name=""/>
          <p:cNvSpPr/>
          <p:nvPr/>
        </p:nvSpPr>
        <p:spPr>
          <a:xfrm>
            <a:off x="4572000" y="1866960"/>
            <a:ext cx="191412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2" name=""/>
          <p:cNvSpPr/>
          <p:nvPr/>
        </p:nvSpPr>
        <p:spPr>
          <a:xfrm>
            <a:off x="6620040" y="1866960"/>
            <a:ext cx="191412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53" name=""/>
          <p:cNvSpPr/>
          <p:nvPr/>
        </p:nvSpPr>
        <p:spPr>
          <a:xfrm>
            <a:off x="476280" y="380880"/>
            <a:ext cx="8191080" cy="399600"/>
          </a:xfrm>
          <a:prstGeom prst="rect">
            <a:avLst/>
          </a:prstGeom>
          <a:noFill/>
          <a:ln w="0">
            <a:noFill/>
          </a:ln>
        </p:spPr>
        <p:style>
          <a:lnRef idx="0"/>
          <a:fillRef idx="0"/>
          <a:effectRef idx="0"/>
          <a:fontRef idx="minor"/>
        </p:style>
        <p:txBody>
          <a:bodyPr anchor="t">
            <a:normAutofit fontScale="85000" lnSpcReduction="9999"/>
          </a:bodyPr>
          <a:p>
            <a:pPr defTabSz="914400">
              <a:lnSpc>
                <a:spcPct val="100000"/>
              </a:lnSpc>
              <a:tabLst>
                <a:tab algn="l" pos="0"/>
              </a:tabLst>
            </a:pPr>
            <a:r>
              <a:rPr b="1" lang="en-US" sz="2600" strike="noStrike" u="none">
                <a:solidFill>
                  <a:srgbClr val="000000"/>
                </a:solidFill>
                <a:effectLst/>
                <a:uFillTx/>
                <a:latin typeface="Julius Sans One"/>
              </a:rPr>
              <a:t>Analytical Pipeline</a:t>
            </a:r>
            <a:endParaRPr b="0" lang="en-US" sz="2600" strike="noStrike" u="none">
              <a:solidFill>
                <a:srgbClr val="000000"/>
              </a:solidFill>
              <a:effectLst/>
              <a:uFillTx/>
              <a:latin typeface="OpenSymbol"/>
            </a:endParaRPr>
          </a:p>
        </p:txBody>
      </p:sp>
      <p:sp>
        <p:nvSpPr>
          <p:cNvPr id="54" name=""/>
          <p:cNvSpPr/>
          <p:nvPr/>
        </p:nvSpPr>
        <p:spPr>
          <a:xfrm>
            <a:off x="47628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Julius Sans One"/>
              </a:rPr>
              <a:t>01</a:t>
            </a:r>
            <a:endParaRPr b="0" lang="en-US" sz="2400" strike="noStrike" u="none">
              <a:solidFill>
                <a:srgbClr val="000000"/>
              </a:solidFill>
              <a:effectLst/>
              <a:uFillTx/>
              <a:latin typeface="OpenSymbol"/>
            </a:endParaRPr>
          </a:p>
        </p:txBody>
      </p:sp>
      <p:sp>
        <p:nvSpPr>
          <p:cNvPr id="55" name=""/>
          <p:cNvSpPr/>
          <p:nvPr/>
        </p:nvSpPr>
        <p:spPr>
          <a:xfrm>
            <a:off x="666720" y="213372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eeeeee"/>
                </a:solidFill>
                <a:effectLst/>
                <a:uFillTx/>
                <a:latin typeface="Julius Sans One"/>
              </a:rPr>
              <a:t>Data Ingest</a:t>
            </a:r>
            <a:endParaRPr b="0" lang="en-US" sz="1800" strike="noStrike" u="none">
              <a:solidFill>
                <a:srgbClr val="000000"/>
              </a:solidFill>
              <a:effectLst/>
              <a:uFillTx/>
              <a:latin typeface="OpenSymbol"/>
            </a:endParaRPr>
          </a:p>
        </p:txBody>
      </p:sp>
      <p:sp>
        <p:nvSpPr>
          <p:cNvPr id="56" name=""/>
          <p:cNvSpPr/>
          <p:nvPr/>
        </p:nvSpPr>
        <p:spPr>
          <a:xfrm>
            <a:off x="666720" y="266688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Didact Gothic"/>
              </a:rPr>
              <a:t>Raw data loaded from sources into a stable workspace.</a:t>
            </a:r>
            <a:endParaRPr b="0" lang="en-US" sz="1200" strike="noStrike" u="none">
              <a:solidFill>
                <a:srgbClr val="000000"/>
              </a:solidFill>
              <a:effectLst/>
              <a:uFillTx/>
              <a:latin typeface="OpenSymbol"/>
            </a:endParaRPr>
          </a:p>
        </p:txBody>
      </p:sp>
      <p:sp>
        <p:nvSpPr>
          <p:cNvPr id="57" name=""/>
          <p:cNvSpPr/>
          <p:nvPr/>
        </p:nvSpPr>
        <p:spPr>
          <a:xfrm>
            <a:off x="252396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Julius Sans One"/>
              </a:rPr>
              <a:t>02</a:t>
            </a:r>
            <a:endParaRPr b="0" lang="en-US" sz="2400" strike="noStrike" u="none">
              <a:solidFill>
                <a:srgbClr val="000000"/>
              </a:solidFill>
              <a:effectLst/>
              <a:uFillTx/>
              <a:latin typeface="OpenSymbol"/>
            </a:endParaRPr>
          </a:p>
        </p:txBody>
      </p:sp>
      <p:sp>
        <p:nvSpPr>
          <p:cNvPr id="58" name=""/>
          <p:cNvSpPr/>
          <p:nvPr/>
        </p:nvSpPr>
        <p:spPr>
          <a:xfrm>
            <a:off x="2714760" y="213372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eeeeee"/>
                </a:solidFill>
                <a:effectLst/>
                <a:uFillTx/>
                <a:latin typeface="Julius Sans One"/>
              </a:rPr>
              <a:t>Cleaning &amp; QA</a:t>
            </a:r>
            <a:endParaRPr b="0" lang="en-US" sz="1800" strike="noStrike" u="none">
              <a:solidFill>
                <a:srgbClr val="000000"/>
              </a:solidFill>
              <a:effectLst/>
              <a:uFillTx/>
              <a:latin typeface="OpenSymbol"/>
            </a:endParaRPr>
          </a:p>
        </p:txBody>
      </p:sp>
      <p:sp>
        <p:nvSpPr>
          <p:cNvPr id="59" name=""/>
          <p:cNvSpPr/>
          <p:nvPr/>
        </p:nvSpPr>
        <p:spPr>
          <a:xfrm>
            <a:off x="2714760" y="266688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Didact Gothic"/>
              </a:rPr>
              <a:t>Quality checks and cleaning rules to ensure reliability.</a:t>
            </a:r>
            <a:endParaRPr b="0" lang="en-US" sz="1200" strike="noStrike" u="none">
              <a:solidFill>
                <a:srgbClr val="000000"/>
              </a:solidFill>
              <a:effectLst/>
              <a:uFillTx/>
              <a:latin typeface="OpenSymbol"/>
            </a:endParaRPr>
          </a:p>
        </p:txBody>
      </p:sp>
      <p:sp>
        <p:nvSpPr>
          <p:cNvPr id="60" name=""/>
          <p:cNvSpPr/>
          <p:nvPr/>
        </p:nvSpPr>
        <p:spPr>
          <a:xfrm>
            <a:off x="457200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Julius Sans One"/>
              </a:rPr>
              <a:t>03</a:t>
            </a:r>
            <a:endParaRPr b="0" lang="en-US" sz="2400" strike="noStrike" u="none">
              <a:solidFill>
                <a:srgbClr val="000000"/>
              </a:solidFill>
              <a:effectLst/>
              <a:uFillTx/>
              <a:latin typeface="OpenSymbol"/>
            </a:endParaRPr>
          </a:p>
        </p:txBody>
      </p:sp>
      <p:sp>
        <p:nvSpPr>
          <p:cNvPr id="61" name=""/>
          <p:cNvSpPr/>
          <p:nvPr/>
        </p:nvSpPr>
        <p:spPr>
          <a:xfrm>
            <a:off x="4762440" y="2133720"/>
            <a:ext cx="1533240" cy="9712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eeeeee"/>
                </a:solidFill>
                <a:effectLst/>
                <a:uFillTx/>
                <a:latin typeface="Julius Sans One"/>
              </a:rPr>
              <a:t>Feature Engineering</a:t>
            </a:r>
            <a:endParaRPr b="0" lang="en-US" sz="1800" strike="noStrike" u="none">
              <a:solidFill>
                <a:srgbClr val="000000"/>
              </a:solidFill>
              <a:effectLst/>
              <a:uFillTx/>
              <a:latin typeface="OpenSymbol"/>
            </a:endParaRPr>
          </a:p>
        </p:txBody>
      </p:sp>
      <p:sp>
        <p:nvSpPr>
          <p:cNvPr id="62" name=""/>
          <p:cNvSpPr/>
          <p:nvPr/>
        </p:nvSpPr>
        <p:spPr>
          <a:xfrm>
            <a:off x="4762440" y="2666880"/>
            <a:ext cx="1533240" cy="10663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Didact Gothic"/>
              </a:rPr>
              <a:t>Month, region, and category aggregates enable cross‑section comparisons.</a:t>
            </a:r>
            <a:endParaRPr b="0" lang="en-US" sz="1200" strike="noStrike" u="none">
              <a:solidFill>
                <a:srgbClr val="000000"/>
              </a:solidFill>
              <a:effectLst/>
              <a:uFillTx/>
              <a:latin typeface="OpenSymbol"/>
            </a:endParaRPr>
          </a:p>
        </p:txBody>
      </p:sp>
      <p:sp>
        <p:nvSpPr>
          <p:cNvPr id="63" name=""/>
          <p:cNvSpPr/>
          <p:nvPr/>
        </p:nvSpPr>
        <p:spPr>
          <a:xfrm>
            <a:off x="6620040" y="1238400"/>
            <a:ext cx="1914120" cy="5140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400" strike="noStrike" u="none">
                <a:solidFill>
                  <a:srgbClr val="000000"/>
                </a:solidFill>
                <a:effectLst/>
                <a:uFillTx/>
                <a:latin typeface="Julius Sans One"/>
              </a:rPr>
              <a:t>04</a:t>
            </a:r>
            <a:endParaRPr b="0" lang="en-US" sz="2400" strike="noStrike" u="none">
              <a:solidFill>
                <a:srgbClr val="000000"/>
              </a:solidFill>
              <a:effectLst/>
              <a:uFillTx/>
              <a:latin typeface="OpenSymbol"/>
            </a:endParaRPr>
          </a:p>
        </p:txBody>
      </p:sp>
      <p:sp>
        <p:nvSpPr>
          <p:cNvPr id="64" name=""/>
          <p:cNvSpPr/>
          <p:nvPr/>
        </p:nvSpPr>
        <p:spPr>
          <a:xfrm>
            <a:off x="6810480" y="2133720"/>
            <a:ext cx="153324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800" strike="noStrike" u="none">
                <a:solidFill>
                  <a:srgbClr val="eeeeee"/>
                </a:solidFill>
                <a:effectLst/>
                <a:uFillTx/>
                <a:latin typeface="Julius Sans One"/>
              </a:rPr>
              <a:t>Descriptive EDA</a:t>
            </a:r>
            <a:endParaRPr b="0" lang="en-US" sz="1800" strike="noStrike" u="none">
              <a:solidFill>
                <a:srgbClr val="000000"/>
              </a:solidFill>
              <a:effectLst/>
              <a:uFillTx/>
              <a:latin typeface="OpenSymbol"/>
            </a:endParaRPr>
          </a:p>
        </p:txBody>
      </p:sp>
      <p:sp>
        <p:nvSpPr>
          <p:cNvPr id="65" name=""/>
          <p:cNvSpPr/>
          <p:nvPr/>
        </p:nvSpPr>
        <p:spPr>
          <a:xfrm>
            <a:off x="6810480" y="2666880"/>
            <a:ext cx="153324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Didact Gothic"/>
              </a:rPr>
              <a:t>Trend and distribution plots reveal patterns across segments.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
          <p:cNvSpPr/>
          <p:nvPr/>
        </p:nvSpPr>
        <p:spPr>
          <a:xfrm>
            <a:off x="3610080" y="628560"/>
            <a:ext cx="9000" cy="388584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7" name=""/>
          <p:cNvSpPr/>
          <p:nvPr/>
        </p:nvSpPr>
        <p:spPr>
          <a:xfrm>
            <a:off x="3143160" y="324000"/>
            <a:ext cx="952200" cy="30456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8" name=""/>
          <p:cNvSpPr/>
          <p:nvPr/>
        </p:nvSpPr>
        <p:spPr>
          <a:xfrm>
            <a:off x="3143160" y="4514760"/>
            <a:ext cx="952200" cy="30456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69" name=""/>
          <p:cNvSpPr/>
          <p:nvPr/>
        </p:nvSpPr>
        <p:spPr>
          <a:xfrm>
            <a:off x="3610080" y="1171440"/>
            <a:ext cx="561600" cy="9000"/>
          </a:xfrm>
          <a:prstGeom prst="rect">
            <a:avLst/>
          </a:prstGeom>
          <a:solidFill>
            <a:srgbClr val="000000"/>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0" name=""/>
          <p:cNvSpPr/>
          <p:nvPr/>
        </p:nvSpPr>
        <p:spPr>
          <a:xfrm rot="5400000">
            <a:off x="4172040" y="1133640"/>
            <a:ext cx="75960" cy="75960"/>
          </a:xfrm>
          <a:prstGeom prst="triangle">
            <a:avLst>
              <a:gd name="adj" fmla="val 50000"/>
            </a:avLst>
          </a:prstGeom>
          <a:solidFill>
            <a:srgbClr val="000000"/>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1" name=""/>
          <p:cNvSpPr/>
          <p:nvPr/>
        </p:nvSpPr>
        <p:spPr>
          <a:xfrm>
            <a:off x="3610080" y="2562120"/>
            <a:ext cx="561600" cy="9000"/>
          </a:xfrm>
          <a:prstGeom prst="rect">
            <a:avLst/>
          </a:prstGeom>
          <a:solidFill>
            <a:srgbClr val="000000"/>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2" name=""/>
          <p:cNvSpPr/>
          <p:nvPr/>
        </p:nvSpPr>
        <p:spPr>
          <a:xfrm rot="5400000">
            <a:off x="4172040" y="2523960"/>
            <a:ext cx="75960" cy="75960"/>
          </a:xfrm>
          <a:prstGeom prst="triangle">
            <a:avLst>
              <a:gd name="adj" fmla="val 50000"/>
            </a:avLst>
          </a:prstGeom>
          <a:solidFill>
            <a:srgbClr val="000000"/>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3" name=""/>
          <p:cNvSpPr/>
          <p:nvPr/>
        </p:nvSpPr>
        <p:spPr>
          <a:xfrm>
            <a:off x="3610080" y="3952800"/>
            <a:ext cx="561600" cy="9000"/>
          </a:xfrm>
          <a:prstGeom prst="rect">
            <a:avLst/>
          </a:prstGeom>
          <a:solidFill>
            <a:srgbClr val="000000"/>
          </a:solidFill>
          <a:ln w="0">
            <a:noFill/>
          </a:ln>
        </p:spPr>
        <p:style>
          <a:lnRef idx="0"/>
          <a:fillRef idx="0"/>
          <a:effectRef idx="0"/>
          <a:fontRef idx="minor"/>
        </p:style>
        <p:txBody>
          <a:bodyPr vertOverflow="clip" lIns="90000" rIns="90000" tIns="-35640" bIns="-356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4" name=""/>
          <p:cNvSpPr/>
          <p:nvPr/>
        </p:nvSpPr>
        <p:spPr>
          <a:xfrm rot="5400000">
            <a:off x="4172040" y="3914640"/>
            <a:ext cx="75960" cy="75960"/>
          </a:xfrm>
          <a:prstGeom prst="triangle">
            <a:avLst>
              <a:gd name="adj" fmla="val 50000"/>
            </a:avLst>
          </a:prstGeom>
          <a:solidFill>
            <a:srgbClr val="000000"/>
          </a:solidFill>
          <a:ln w="0">
            <a:noFill/>
          </a:ln>
        </p:spPr>
        <p:style>
          <a:lnRef idx="0"/>
          <a:fillRef idx="0"/>
          <a:effectRef idx="0"/>
          <a:fontRef idx="minor"/>
        </p:style>
        <p:txBody>
          <a:bodyPr vertOverflow="clip" lIns="90000" rIns="90000" tIns="-6840" bIns="-684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75" name=""/>
          <p:cNvSpPr/>
          <p:nvPr/>
        </p:nvSpPr>
        <p:spPr>
          <a:xfrm>
            <a:off x="476280" y="324000"/>
            <a:ext cx="2285640" cy="79020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1" lang="en-US" sz="2600" strike="noStrike" u="none">
                <a:solidFill>
                  <a:srgbClr val="000000"/>
                </a:solidFill>
                <a:effectLst/>
                <a:uFillTx/>
                <a:latin typeface="Julius Sans One"/>
              </a:rPr>
              <a:t>Analytical Pipeline</a:t>
            </a:r>
            <a:endParaRPr b="0" lang="en-US" sz="2600" strike="noStrike" u="none">
              <a:solidFill>
                <a:srgbClr val="000000"/>
              </a:solidFill>
              <a:effectLst/>
              <a:uFillTx/>
              <a:latin typeface="OpenSymbol"/>
            </a:endParaRPr>
          </a:p>
        </p:txBody>
      </p:sp>
      <p:sp>
        <p:nvSpPr>
          <p:cNvPr id="76" name=""/>
          <p:cNvSpPr/>
          <p:nvPr/>
        </p:nvSpPr>
        <p:spPr>
          <a:xfrm>
            <a:off x="4476600" y="88596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Julius Sans One"/>
              </a:rPr>
              <a:t>Data Ingest</a:t>
            </a:r>
            <a:endParaRPr b="0" lang="en-US" sz="1400" strike="noStrike" u="none">
              <a:solidFill>
                <a:srgbClr val="000000"/>
              </a:solidFill>
              <a:effectLst/>
              <a:uFillTx/>
              <a:latin typeface="OpenSymbol"/>
            </a:endParaRPr>
          </a:p>
        </p:txBody>
      </p:sp>
      <p:sp>
        <p:nvSpPr>
          <p:cNvPr id="77" name=""/>
          <p:cNvSpPr/>
          <p:nvPr/>
        </p:nvSpPr>
        <p:spPr>
          <a:xfrm>
            <a:off x="6191280" y="714240"/>
            <a:ext cx="24760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Didact Gothic"/>
              </a:rPr>
              <a:t>Raw store data is loaded into a reproducible workspace.</a:t>
            </a:r>
            <a:endParaRPr b="0" lang="en-US" sz="1200" strike="noStrike" u="none">
              <a:solidFill>
                <a:srgbClr val="000000"/>
              </a:solidFill>
              <a:effectLst/>
              <a:uFillTx/>
              <a:latin typeface="OpenSymbol"/>
            </a:endParaRPr>
          </a:p>
        </p:txBody>
      </p:sp>
      <p:sp>
        <p:nvSpPr>
          <p:cNvPr id="78" name=""/>
          <p:cNvSpPr/>
          <p:nvPr/>
        </p:nvSpPr>
        <p:spPr>
          <a:xfrm>
            <a:off x="4476600" y="2276640"/>
            <a:ext cx="1523520" cy="5806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Julius Sans One"/>
              </a:rPr>
              <a:t>Cleaning &amp; QA</a:t>
            </a:r>
            <a:endParaRPr b="0" lang="en-US" sz="1400" strike="noStrike" u="none">
              <a:solidFill>
                <a:srgbClr val="000000"/>
              </a:solidFill>
              <a:effectLst/>
              <a:uFillTx/>
              <a:latin typeface="OpenSymbol"/>
            </a:endParaRPr>
          </a:p>
        </p:txBody>
      </p:sp>
      <p:sp>
        <p:nvSpPr>
          <p:cNvPr id="79" name=""/>
          <p:cNvSpPr/>
          <p:nvPr/>
        </p:nvSpPr>
        <p:spPr>
          <a:xfrm>
            <a:off x="6191280" y="2104920"/>
            <a:ext cx="24760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Didact Gothic"/>
              </a:rPr>
              <a:t>Data quality checks and cleaning rules ensure consistency.</a:t>
            </a:r>
            <a:endParaRPr b="0" lang="en-US" sz="1200" strike="noStrike" u="none">
              <a:solidFill>
                <a:srgbClr val="000000"/>
              </a:solidFill>
              <a:effectLst/>
              <a:uFillTx/>
              <a:latin typeface="OpenSymbol"/>
            </a:endParaRPr>
          </a:p>
        </p:txBody>
      </p:sp>
      <p:sp>
        <p:nvSpPr>
          <p:cNvPr id="80" name=""/>
          <p:cNvSpPr/>
          <p:nvPr/>
        </p:nvSpPr>
        <p:spPr>
          <a:xfrm>
            <a:off x="4476600" y="3666960"/>
            <a:ext cx="152352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Julius Sans One"/>
              </a:rPr>
              <a:t>Feature Eng</a:t>
            </a:r>
            <a:endParaRPr b="0" lang="en-US" sz="1400" strike="noStrike" u="none">
              <a:solidFill>
                <a:srgbClr val="000000"/>
              </a:solidFill>
              <a:effectLst/>
              <a:uFillTx/>
              <a:latin typeface="OpenSymbol"/>
            </a:endParaRPr>
          </a:p>
        </p:txBody>
      </p:sp>
      <p:sp>
        <p:nvSpPr>
          <p:cNvPr id="81" name=""/>
          <p:cNvSpPr/>
          <p:nvPr/>
        </p:nvSpPr>
        <p:spPr>
          <a:xfrm>
            <a:off x="6191280" y="3495600"/>
            <a:ext cx="24760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Didact Gothic"/>
              </a:rPr>
              <a:t>Create month, region, and category aggregates for analysis.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Julius Sans One"/>
              </a:rPr>
              <a:t>West Leads Revenue</a:t>
            </a:r>
            <a:endParaRPr b="0" lang="en-US" sz="2400" strike="noStrike" u="none">
              <a:solidFill>
                <a:srgbClr val="000000"/>
              </a:solidFill>
              <a:effectLst/>
              <a:uFillTx/>
              <a:latin typeface="OpenSymbol"/>
            </a:endParaRPr>
          </a:p>
        </p:txBody>
      </p:sp>
      <p:sp>
        <p:nvSpPr>
          <p:cNvPr id="83" name=""/>
          <p:cNvSpPr/>
          <p:nvPr/>
        </p:nvSpPr>
        <p:spPr>
          <a:xfrm>
            <a:off x="476280" y="1333440"/>
            <a:ext cx="390492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Didact Gothic"/>
              </a:rPr>
              <a:t>West region holds the largest share of total sales, with higher cumulative revenue than other regions. Monthly trends show clear peaks that recur seasonally, informing timing for inventory and marketing.</a:t>
            </a:r>
            <a:endParaRPr b="0" lang="en-US" sz="1200" strike="noStrike" u="none">
              <a:solidFill>
                <a:srgbClr val="000000"/>
              </a:solidFill>
              <a:effectLst/>
              <a:uFillTx/>
              <a:latin typeface="OpenSymbol"/>
            </a:endParaRPr>
          </a:p>
        </p:txBody>
      </p:sp>
      <p:sp>
        <p:nvSpPr>
          <p:cNvPr id="84" name=""/>
          <p:cNvSpPr/>
          <p:nvPr/>
        </p:nvSpPr>
        <p:spPr>
          <a:xfrm>
            <a:off x="4762440" y="1333440"/>
            <a:ext cx="390492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Didact Gothic"/>
              </a:rPr>
              <a:t>Other regions trail West in total revenue and exhibit flatter monthly patterns with smaller peaks, offering fewer season-driven campaign opportunities.</a:t>
            </a:r>
            <a:endParaRPr b="0" lang="en-US" sz="1200" strike="noStrike" u="none">
              <a:solidFill>
                <a:srgbClr val="000000"/>
              </a:solidFill>
              <a:effectLst/>
              <a:uFillTx/>
              <a:latin typeface="OpenSymbol"/>
            </a:endParaRPr>
          </a:p>
        </p:txBody>
      </p:sp>
      <p:sp>
        <p:nvSpPr>
          <p:cNvPr id="85" name=""/>
          <p:cNvSpPr/>
          <p:nvPr/>
        </p:nvSpPr>
        <p:spPr>
          <a:xfrm>
            <a:off x="476280" y="4381560"/>
            <a:ext cx="8191080" cy="3330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000000"/>
                </a:solidFill>
                <a:effectLst/>
                <a:uFillTx/>
                <a:latin typeface="Didact Gothic"/>
              </a:rPr>
              <a:t>West dominates revenue; seasonal peaks enable targeted timing and stock planning.</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
          <p:cNvSpPr/>
          <p:nvPr/>
        </p:nvSpPr>
        <p:spPr>
          <a:xfrm>
            <a:off x="476280" y="380880"/>
            <a:ext cx="819108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Julius Sans One"/>
              </a:rPr>
              <a:t>Profit by Category</a:t>
            </a:r>
            <a:endParaRPr b="0" lang="en-US" sz="2400" strike="noStrike" u="none">
              <a:solidFill>
                <a:srgbClr val="000000"/>
              </a:solidFill>
              <a:effectLst/>
              <a:uFillTx/>
              <a:latin typeface="OpenSymbol"/>
            </a:endParaRPr>
          </a:p>
        </p:txBody>
      </p:sp>
      <p:sp>
        <p:nvSpPr>
          <p:cNvPr id="87" name=""/>
          <p:cNvSpPr/>
          <p:nvPr/>
        </p:nvSpPr>
        <p:spPr>
          <a:xfrm>
            <a:off x="476280" y="142884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Questrial"/>
              </a:rPr>
              <a:t>Technology Profit</a:t>
            </a:r>
            <a:endParaRPr b="0" lang="en-US" sz="1400" strike="noStrike" u="none">
              <a:solidFill>
                <a:srgbClr val="000000"/>
              </a:solidFill>
              <a:effectLst/>
              <a:uFillTx/>
              <a:latin typeface="OpenSymbol"/>
            </a:endParaRPr>
          </a:p>
        </p:txBody>
      </p:sp>
      <p:sp>
        <p:nvSpPr>
          <p:cNvPr id="88" name=""/>
          <p:cNvSpPr/>
          <p:nvPr/>
        </p:nvSpPr>
        <p:spPr>
          <a:xfrm>
            <a:off x="3048120" y="1428840"/>
            <a:ext cx="25714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Questrial"/>
              </a:rPr>
              <a:t>Largest aggregate profit across categories.</a:t>
            </a:r>
            <a:endParaRPr b="0" lang="en-US" sz="1200" strike="noStrike" u="none">
              <a:solidFill>
                <a:srgbClr val="000000"/>
              </a:solidFill>
              <a:effectLst/>
              <a:uFillTx/>
              <a:latin typeface="OpenSymbol"/>
            </a:endParaRPr>
          </a:p>
        </p:txBody>
      </p:sp>
      <p:sp>
        <p:nvSpPr>
          <p:cNvPr id="89" name=""/>
          <p:cNvSpPr/>
          <p:nvPr/>
        </p:nvSpPr>
        <p:spPr>
          <a:xfrm>
            <a:off x="5810400" y="1428840"/>
            <a:ext cx="2857320" cy="10663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0" lang="en-US" sz="6000" strike="noStrike" u="none">
                <a:solidFill>
                  <a:srgbClr val="000000"/>
                </a:solidFill>
                <a:effectLst/>
                <a:uFillTx/>
                <a:latin typeface="Julius Sans One"/>
              </a:rPr>
              <a:t>145,455</a:t>
            </a:r>
            <a:endParaRPr b="0" lang="en-US" sz="6000" strike="noStrike" u="none">
              <a:solidFill>
                <a:srgbClr val="000000"/>
              </a:solidFill>
              <a:effectLst/>
              <a:uFillTx/>
              <a:latin typeface="OpenSymbol"/>
            </a:endParaRPr>
          </a:p>
        </p:txBody>
      </p:sp>
      <p:sp>
        <p:nvSpPr>
          <p:cNvPr id="90" name=""/>
          <p:cNvSpPr/>
          <p:nvPr/>
        </p:nvSpPr>
        <p:spPr>
          <a:xfrm>
            <a:off x="476280" y="3048120"/>
            <a:ext cx="2381040" cy="36144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400" strike="noStrike" u="none">
                <a:solidFill>
                  <a:srgbClr val="000000"/>
                </a:solidFill>
                <a:effectLst/>
                <a:uFillTx/>
                <a:latin typeface="Questrial"/>
              </a:rPr>
              <a:t>Furniture Profit</a:t>
            </a:r>
            <a:endParaRPr b="0" lang="en-US" sz="1400" strike="noStrike" u="none">
              <a:solidFill>
                <a:srgbClr val="000000"/>
              </a:solidFill>
              <a:effectLst/>
              <a:uFillTx/>
              <a:latin typeface="OpenSymbol"/>
            </a:endParaRPr>
          </a:p>
        </p:txBody>
      </p:sp>
      <p:sp>
        <p:nvSpPr>
          <p:cNvPr id="91" name=""/>
          <p:cNvSpPr/>
          <p:nvPr/>
        </p:nvSpPr>
        <p:spPr>
          <a:xfrm>
            <a:off x="3048120" y="3048120"/>
            <a:ext cx="2571480" cy="514080"/>
          </a:xfrm>
          <a:prstGeom prst="rect">
            <a:avLst/>
          </a:prstGeom>
          <a:noFill/>
          <a:ln w="0">
            <a:noFill/>
          </a:ln>
        </p:spPr>
        <p:style>
          <a:lnRef idx="0"/>
          <a:fillRef idx="0"/>
          <a:effectRef idx="0"/>
          <a:fontRef idx="minor"/>
        </p:style>
        <p:txBody>
          <a:bodyPr anchor="ctr">
            <a:normAutofit/>
          </a:bodyPr>
          <a:p>
            <a:pPr defTabSz="914400">
              <a:lnSpc>
                <a:spcPct val="100000"/>
              </a:lnSpc>
              <a:tabLst>
                <a:tab algn="l" pos="0"/>
              </a:tabLst>
            </a:pPr>
            <a:r>
              <a:rPr b="0" lang="en-US" sz="1200" strike="noStrike" u="none">
                <a:solidFill>
                  <a:srgbClr val="000000"/>
                </a:solidFill>
                <a:effectLst/>
                <a:uFillTx/>
                <a:latin typeface="Questrial"/>
              </a:rPr>
              <a:t>Lower profit despite sales presence; underperforms Tech.</a:t>
            </a:r>
            <a:endParaRPr b="0" lang="en-US" sz="1200" strike="noStrike" u="none">
              <a:solidFill>
                <a:srgbClr val="000000"/>
              </a:solidFill>
              <a:effectLst/>
              <a:uFillTx/>
              <a:latin typeface="OpenSymbol"/>
            </a:endParaRPr>
          </a:p>
        </p:txBody>
      </p:sp>
      <p:sp>
        <p:nvSpPr>
          <p:cNvPr id="92" name=""/>
          <p:cNvSpPr/>
          <p:nvPr/>
        </p:nvSpPr>
        <p:spPr>
          <a:xfrm>
            <a:off x="5810400" y="3048120"/>
            <a:ext cx="2857320" cy="1066320"/>
          </a:xfrm>
          <a:prstGeom prst="rect">
            <a:avLst/>
          </a:prstGeom>
          <a:noFill/>
          <a:ln w="0">
            <a:noFill/>
          </a:ln>
        </p:spPr>
        <p:style>
          <a:lnRef idx="0"/>
          <a:fillRef idx="0"/>
          <a:effectRef idx="0"/>
          <a:fontRef idx="minor"/>
        </p:style>
        <p:txBody>
          <a:bodyPr anchor="ctr">
            <a:normAutofit/>
          </a:bodyPr>
          <a:p>
            <a:pPr algn="r" defTabSz="914400">
              <a:lnSpc>
                <a:spcPct val="100000"/>
              </a:lnSpc>
              <a:tabLst>
                <a:tab algn="l" pos="0"/>
              </a:tabLst>
            </a:pPr>
            <a:r>
              <a:rPr b="0" lang="en-US" sz="6000" strike="noStrike" u="none">
                <a:solidFill>
                  <a:srgbClr val="000000"/>
                </a:solidFill>
                <a:effectLst/>
                <a:uFillTx/>
                <a:latin typeface="Julius Sans One"/>
              </a:rPr>
              <a:t>18,451</a:t>
            </a:r>
            <a:endParaRPr b="0" lang="en-US" sz="6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
          <p:cNvSpPr/>
          <p:nvPr/>
        </p:nvSpPr>
        <p:spPr>
          <a:xfrm>
            <a:off x="476280" y="1866960"/>
            <a:ext cx="249516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4" name=""/>
          <p:cNvSpPr/>
          <p:nvPr/>
        </p:nvSpPr>
        <p:spPr>
          <a:xfrm>
            <a:off x="3200400" y="1866960"/>
            <a:ext cx="249516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5" name=""/>
          <p:cNvSpPr/>
          <p:nvPr/>
        </p:nvSpPr>
        <p:spPr>
          <a:xfrm>
            <a:off x="5924520" y="1866960"/>
            <a:ext cx="2495160" cy="2800080"/>
          </a:xfrm>
          <a:prstGeom prst="roundRect">
            <a:avLst>
              <a:gd name="adj" fmla="val 16667"/>
            </a:avLst>
          </a:prstGeom>
          <a:solidFill>
            <a:srgbClr val="000000"/>
          </a:solidFill>
          <a:ln w="0">
            <a:noFill/>
          </a:ln>
        </p:spPr>
        <p:style>
          <a:lnRef idx="0"/>
          <a:fillRef idx="0"/>
          <a:effectRef idx="0"/>
          <a:fontRef idx="minor"/>
        </p:style>
        <p:txBody>
          <a:bodyPr vertOverflow="clip" lIns="90000" rIns="90000" tIns="45000" bIns="45000" anchor="ctr">
            <a:noAutofit/>
          </a:bodyPr>
          <a:p>
            <a:pPr algn="ctr" defTabSz="914400">
              <a:lnSpc>
                <a:spcPct val="100000"/>
              </a:lnSpc>
            </a:pPr>
            <a:endParaRPr b="0" lang="en-US" sz="1800" strike="noStrike" u="none">
              <a:solidFill>
                <a:srgbClr val="ffffff"/>
              </a:solidFill>
              <a:effectLst/>
              <a:uFillTx/>
              <a:latin typeface="OpenSymbol"/>
            </a:endParaRPr>
          </a:p>
        </p:txBody>
      </p:sp>
      <p:sp>
        <p:nvSpPr>
          <p:cNvPr id="96" name=""/>
          <p:cNvSpPr/>
          <p:nvPr/>
        </p:nvSpPr>
        <p:spPr>
          <a:xfrm>
            <a:off x="476280" y="380880"/>
            <a:ext cx="4381200" cy="361440"/>
          </a:xfrm>
          <a:prstGeom prst="rect">
            <a:avLst/>
          </a:prstGeom>
          <a:noFill/>
          <a:ln w="0">
            <a:noFill/>
          </a:ln>
        </p:spPr>
        <p:style>
          <a:lnRef idx="0"/>
          <a:fillRef idx="0"/>
          <a:effectRef idx="0"/>
          <a:fontRef idx="minor"/>
        </p:style>
        <p:txBody>
          <a:bodyPr anchor="t">
            <a:normAutofit fontScale="85000" lnSpcReduction="19999"/>
          </a:bodyPr>
          <a:p>
            <a:pPr defTabSz="914400">
              <a:lnSpc>
                <a:spcPct val="100000"/>
              </a:lnSpc>
              <a:tabLst>
                <a:tab algn="l" pos="0"/>
              </a:tabLst>
            </a:pPr>
            <a:r>
              <a:rPr b="1" lang="en-US" sz="2400" strike="noStrike" u="none">
                <a:solidFill>
                  <a:srgbClr val="000000"/>
                </a:solidFill>
                <a:effectLst/>
                <a:uFillTx/>
                <a:latin typeface="Julius Sans One"/>
              </a:rPr>
              <a:t>Discounts Matter</a:t>
            </a:r>
            <a:endParaRPr b="0" lang="en-US" sz="2400" strike="noStrike" u="none">
              <a:solidFill>
                <a:srgbClr val="000000"/>
              </a:solidFill>
              <a:effectLst/>
              <a:uFillTx/>
              <a:latin typeface="OpenSymbol"/>
            </a:endParaRPr>
          </a:p>
        </p:txBody>
      </p:sp>
      <p:sp>
        <p:nvSpPr>
          <p:cNvPr id="97" name=""/>
          <p:cNvSpPr/>
          <p:nvPr/>
        </p:nvSpPr>
        <p:spPr>
          <a:xfrm>
            <a:off x="5334120" y="419040"/>
            <a:ext cx="333324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000000"/>
                </a:solidFill>
                <a:effectLst/>
                <a:uFillTx/>
                <a:latin typeface="Didact Gothic"/>
              </a:rPr>
              <a:t>Technology vs Furniture average profit</a:t>
            </a:r>
            <a:endParaRPr b="0" lang="en-US" sz="1400" strike="noStrike" u="none">
              <a:solidFill>
                <a:srgbClr val="000000"/>
              </a:solidFill>
              <a:effectLst/>
              <a:uFillTx/>
              <a:latin typeface="OpenSymbol"/>
            </a:endParaRPr>
          </a:p>
        </p:txBody>
      </p:sp>
      <p:sp>
        <p:nvSpPr>
          <p:cNvPr id="98" name=""/>
          <p:cNvSpPr/>
          <p:nvPr/>
        </p:nvSpPr>
        <p:spPr>
          <a:xfrm>
            <a:off x="666720" y="2057400"/>
            <a:ext cx="211428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800" strike="noStrike" u="none">
                <a:solidFill>
                  <a:srgbClr val="eeeeee"/>
                </a:solidFill>
                <a:effectLst/>
                <a:uFillTx/>
                <a:latin typeface="Julius Sans One"/>
              </a:rPr>
              <a:t>6.7320</a:t>
            </a:r>
            <a:endParaRPr b="0" lang="en-US" sz="4800" strike="noStrike" u="none">
              <a:solidFill>
                <a:srgbClr val="000000"/>
              </a:solidFill>
              <a:effectLst/>
              <a:uFillTx/>
              <a:latin typeface="OpenSymbol"/>
            </a:endParaRPr>
          </a:p>
        </p:txBody>
      </p:sp>
      <p:sp>
        <p:nvSpPr>
          <p:cNvPr id="99" name=""/>
          <p:cNvSpPr/>
          <p:nvPr/>
        </p:nvSpPr>
        <p:spPr>
          <a:xfrm>
            <a:off x="666720" y="2933640"/>
            <a:ext cx="21142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eeeeee"/>
                </a:solidFill>
                <a:effectLst/>
                <a:uFillTx/>
                <a:latin typeface="Questrial"/>
              </a:rPr>
              <a:t>t-statistic</a:t>
            </a:r>
            <a:endParaRPr b="0" lang="en-US" sz="1400" strike="noStrike" u="none">
              <a:solidFill>
                <a:srgbClr val="000000"/>
              </a:solidFill>
              <a:effectLst/>
              <a:uFillTx/>
              <a:latin typeface="OpenSymbol"/>
            </a:endParaRPr>
          </a:p>
        </p:txBody>
      </p:sp>
      <p:sp>
        <p:nvSpPr>
          <p:cNvPr id="100" name=""/>
          <p:cNvSpPr/>
          <p:nvPr/>
        </p:nvSpPr>
        <p:spPr>
          <a:xfrm>
            <a:off x="666720" y="3390840"/>
            <a:ext cx="211428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Questrial"/>
              </a:rPr>
              <a:t>difference in average profit between Technology and Furniture categories</a:t>
            </a:r>
            <a:endParaRPr b="0" lang="en-US" sz="1200" strike="noStrike" u="none">
              <a:solidFill>
                <a:srgbClr val="000000"/>
              </a:solidFill>
              <a:effectLst/>
              <a:uFillTx/>
              <a:latin typeface="OpenSymbol"/>
            </a:endParaRPr>
          </a:p>
          <a:p>
            <a:pPr defTabSz="914400">
              <a:lnSpc>
                <a:spcPct val="100000"/>
              </a:lnSpc>
              <a:tabLst>
                <a:tab algn="l" pos="0"/>
              </a:tabLst>
            </a:pPr>
            <a:endParaRPr b="0" lang="en-US" sz="1200" strike="noStrike" u="none">
              <a:solidFill>
                <a:srgbClr val="000000"/>
              </a:solidFill>
              <a:effectLst/>
              <a:uFillTx/>
              <a:latin typeface="OpenSymbol"/>
            </a:endParaRPr>
          </a:p>
        </p:txBody>
      </p:sp>
      <p:sp>
        <p:nvSpPr>
          <p:cNvPr id="101" name=""/>
          <p:cNvSpPr/>
          <p:nvPr/>
        </p:nvSpPr>
        <p:spPr>
          <a:xfrm>
            <a:off x="3390840" y="2057400"/>
            <a:ext cx="2114280" cy="6091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3000" strike="noStrike" u="none">
                <a:solidFill>
                  <a:srgbClr val="eeeeee"/>
                </a:solidFill>
                <a:effectLst/>
                <a:uFillTx/>
                <a:latin typeface="Julius Sans One"/>
              </a:rPr>
              <a:t>0.000000</a:t>
            </a:r>
            <a:endParaRPr b="0" lang="en-US" sz="3000" strike="noStrike" u="none">
              <a:solidFill>
                <a:srgbClr val="000000"/>
              </a:solidFill>
              <a:effectLst/>
              <a:uFillTx/>
              <a:latin typeface="OpenSymbol"/>
            </a:endParaRPr>
          </a:p>
        </p:txBody>
      </p:sp>
      <p:sp>
        <p:nvSpPr>
          <p:cNvPr id="102" name=""/>
          <p:cNvSpPr/>
          <p:nvPr/>
        </p:nvSpPr>
        <p:spPr>
          <a:xfrm>
            <a:off x="3390840" y="2933640"/>
            <a:ext cx="21142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eeeeee"/>
                </a:solidFill>
                <a:effectLst/>
                <a:uFillTx/>
                <a:latin typeface="Questrial"/>
              </a:rPr>
              <a:t>p-value</a:t>
            </a:r>
            <a:endParaRPr b="0" lang="en-US" sz="1400" strike="noStrike" u="none">
              <a:solidFill>
                <a:srgbClr val="000000"/>
              </a:solidFill>
              <a:effectLst/>
              <a:uFillTx/>
              <a:latin typeface="OpenSymbol"/>
            </a:endParaRPr>
          </a:p>
        </p:txBody>
      </p:sp>
      <p:sp>
        <p:nvSpPr>
          <p:cNvPr id="103" name=""/>
          <p:cNvSpPr/>
          <p:nvPr/>
        </p:nvSpPr>
        <p:spPr>
          <a:xfrm>
            <a:off x="3390840" y="3390840"/>
            <a:ext cx="211428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Questrial"/>
              </a:rPr>
              <a:t>Rejects H0; strong evidence of a difference in mean profit by discount level.</a:t>
            </a:r>
            <a:endParaRPr b="0" lang="en-US" sz="1200" strike="noStrike" u="none">
              <a:solidFill>
                <a:srgbClr val="000000"/>
              </a:solidFill>
              <a:effectLst/>
              <a:uFillTx/>
              <a:latin typeface="OpenSymbol"/>
            </a:endParaRPr>
          </a:p>
        </p:txBody>
      </p:sp>
      <p:sp>
        <p:nvSpPr>
          <p:cNvPr id="104" name=""/>
          <p:cNvSpPr/>
          <p:nvPr/>
        </p:nvSpPr>
        <p:spPr>
          <a:xfrm>
            <a:off x="6114960" y="2057400"/>
            <a:ext cx="2114280" cy="8856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800" strike="noStrike" u="none">
                <a:solidFill>
                  <a:srgbClr val="eeeeee"/>
                </a:solidFill>
                <a:effectLst/>
                <a:uFillTx/>
                <a:latin typeface="Julius Sans One"/>
              </a:rPr>
              <a:t>–</a:t>
            </a:r>
            <a:endParaRPr b="0" lang="en-US" sz="4800" strike="noStrike" u="none">
              <a:solidFill>
                <a:srgbClr val="000000"/>
              </a:solidFill>
              <a:effectLst/>
              <a:uFillTx/>
              <a:latin typeface="OpenSymbol"/>
            </a:endParaRPr>
          </a:p>
        </p:txBody>
      </p:sp>
      <p:sp>
        <p:nvSpPr>
          <p:cNvPr id="105" name=""/>
          <p:cNvSpPr/>
          <p:nvPr/>
        </p:nvSpPr>
        <p:spPr>
          <a:xfrm>
            <a:off x="6114960" y="2933640"/>
            <a:ext cx="2114280" cy="36144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400" strike="noStrike" u="none">
                <a:solidFill>
                  <a:srgbClr val="eeeeee"/>
                </a:solidFill>
                <a:effectLst/>
                <a:uFillTx/>
                <a:latin typeface="Questrial"/>
              </a:rPr>
              <a:t>Conclusion</a:t>
            </a:r>
            <a:endParaRPr b="0" lang="en-US" sz="1400" strike="noStrike" u="none">
              <a:solidFill>
                <a:srgbClr val="000000"/>
              </a:solidFill>
              <a:effectLst/>
              <a:uFillTx/>
              <a:latin typeface="OpenSymbol"/>
            </a:endParaRPr>
          </a:p>
        </p:txBody>
      </p:sp>
      <p:sp>
        <p:nvSpPr>
          <p:cNvPr id="106" name=""/>
          <p:cNvSpPr/>
          <p:nvPr/>
        </p:nvSpPr>
        <p:spPr>
          <a:xfrm>
            <a:off x="6114960" y="3390840"/>
            <a:ext cx="2114280" cy="70452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1200" strike="noStrike" u="none">
                <a:solidFill>
                  <a:srgbClr val="eeeeee"/>
                </a:solidFill>
                <a:effectLst/>
                <a:uFillTx/>
                <a:latin typeface="Questrial"/>
              </a:rPr>
              <a:t>Difference in mean profit across discount groups is statistically significant.</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cxnSp>
        <p:nvCxnSpPr>
          <p:cNvPr id="107" name="Google Shape;526;p71"/>
          <p:cNvCxnSpPr/>
          <p:nvPr/>
        </p:nvCxnSpPr>
        <p:spPr>
          <a:xfrm>
            <a:off x="4248360" y="2483280"/>
            <a:ext cx="647280" cy="360"/>
          </a:xfrm>
          <a:prstGeom prst="straightConnector1">
            <a:avLst/>
          </a:prstGeom>
          <a:ln w="19050">
            <a:solidFill>
              <a:srgbClr val="000000"/>
            </a:solidFill>
            <a:round/>
          </a:ln>
        </p:spPr>
      </p:cxnSp>
      <p:sp>
        <p:nvSpPr>
          <p:cNvPr id="108" name=""/>
          <p:cNvSpPr/>
          <p:nvPr/>
        </p:nvSpPr>
        <p:spPr>
          <a:xfrm>
            <a:off x="781200" y="2581200"/>
            <a:ext cx="7590960" cy="14857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400" strike="noStrike" u="none">
                <a:solidFill>
                  <a:srgbClr val="000000"/>
                </a:solidFill>
                <a:effectLst/>
                <a:uFillTx/>
                <a:latin typeface="Didact Gothic"/>
              </a:rPr>
              <a:t>Findings are actionable but limited by observational data. Potential confounders, aggregation bias, and missing cost data constrain causal claims. Immediate implications: invest in West and Technology, and tighten discounting in low-margin segments. Next steps: A/B pricing tests, capture promotions and cost data, segment-margin modeling, and apply causal inference methods.</a:t>
            </a:r>
            <a:endParaRPr b="0" lang="en-US" sz="1400" strike="noStrike" u="none">
              <a:solidFill>
                <a:srgbClr val="000000"/>
              </a:solidFill>
              <a:effectLst/>
              <a:uFillTx/>
              <a:latin typeface="OpenSymbol"/>
            </a:endParaRPr>
          </a:p>
        </p:txBody>
      </p:sp>
      <p:sp>
        <p:nvSpPr>
          <p:cNvPr id="109" name=""/>
          <p:cNvSpPr/>
          <p:nvPr/>
        </p:nvSpPr>
        <p:spPr>
          <a:xfrm>
            <a:off x="781200" y="1228680"/>
            <a:ext cx="7590960" cy="151920"/>
          </a:xfrm>
          <a:prstGeom prst="rect">
            <a:avLst/>
          </a:prstGeom>
          <a:noFill/>
          <a:ln w="0">
            <a:noFill/>
          </a:ln>
        </p:spPr>
        <p:style>
          <a:lnRef idx="0"/>
          <a:fillRef idx="0"/>
          <a:effectRef idx="0"/>
          <a:fontRef idx="minor"/>
        </p:style>
        <p:txBody>
          <a:bodyPr anchor="b">
            <a:normAutofit fontScale="40000" lnSpcReduction="19999"/>
          </a:bodyPr>
          <a:p>
            <a:pPr defTabSz="914400">
              <a:lnSpc>
                <a:spcPct val="100000"/>
              </a:lnSpc>
              <a:tabLst>
                <a:tab algn="l" pos="0"/>
              </a:tabLst>
            </a:pPr>
            <a:r>
              <a:rPr b="1" lang="en-US" sz="1200" strike="noStrike" u="none">
                <a:solidFill>
                  <a:srgbClr val="000000"/>
                </a:solidFill>
                <a:effectLst/>
                <a:uFillTx/>
                <a:latin typeface="Calibri"/>
              </a:rPr>
              <a:t>Credibility Guardrails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110" name="Google Shape;533;p72"/>
          <p:cNvCxnSpPr/>
          <p:nvPr/>
        </p:nvCxnSpPr>
        <p:spPr>
          <a:xfrm>
            <a:off x="851040" y="2260800"/>
            <a:ext cx="647280" cy="360"/>
          </a:xfrm>
          <a:prstGeom prst="straightConnector1">
            <a:avLst/>
          </a:prstGeom>
          <a:ln w="19050">
            <a:solidFill>
              <a:srgbClr val="eeeeee"/>
            </a:solidFill>
            <a:round/>
          </a:ln>
        </p:spPr>
      </p:cxnSp>
      <p:sp>
        <p:nvSpPr>
          <p:cNvPr id="111" name=""/>
          <p:cNvSpPr/>
          <p:nvPr/>
        </p:nvSpPr>
        <p:spPr>
          <a:xfrm>
            <a:off x="714240" y="2343240"/>
            <a:ext cx="4943160" cy="2285640"/>
          </a:xfrm>
          <a:prstGeom prst="rect">
            <a:avLst/>
          </a:prstGeom>
          <a:noFill/>
          <a:ln w="0">
            <a:noFill/>
          </a:ln>
        </p:spPr>
        <p:style>
          <a:lnRef idx="0"/>
          <a:fillRef idx="0"/>
          <a:effectRef idx="0"/>
          <a:fontRef idx="minor"/>
        </p:style>
        <p:txBody>
          <a:bodyPr anchor="t">
            <a:normAutofit fontScale="92500" lnSpcReduction="9999"/>
          </a:bodyPr>
          <a:p>
            <a:pPr defTabSz="914400">
              <a:lnSpc>
                <a:spcPct val="150000"/>
              </a:lnSpc>
              <a:tabLst>
                <a:tab algn="l" pos="0"/>
              </a:tabLst>
            </a:pPr>
            <a:r>
              <a:rPr b="0" lang="en-US" sz="1400" strike="noStrike" u="none">
                <a:solidFill>
                  <a:srgbClr val="eeeeee"/>
                </a:solidFill>
                <a:effectLst/>
                <a:uFillTx/>
                <a:latin typeface="Didact Gothic"/>
              </a:rPr>
              <a:t>Priority actions guide where impact is highest: invest in the West region and Technology categories.</a:t>
            </a:r>
            <a:endParaRPr b="0" lang="en-US" sz="1400" strike="noStrike" u="none">
              <a:solidFill>
                <a:srgbClr val="ffffff"/>
              </a:solidFill>
              <a:effectLst/>
              <a:uFillTx/>
              <a:latin typeface="OpenSymbol"/>
            </a:endParaRPr>
          </a:p>
          <a:p>
            <a:pPr defTabSz="914400">
              <a:lnSpc>
                <a:spcPct val="150000"/>
              </a:lnSpc>
              <a:tabLst>
                <a:tab algn="l" pos="0"/>
              </a:tabLst>
            </a:pPr>
            <a:r>
              <a:rPr b="0" lang="en-US" sz="1400" strike="noStrike" u="none">
                <a:solidFill>
                  <a:srgbClr val="eeeeee"/>
                </a:solidFill>
                <a:effectLst/>
                <a:uFillTx/>
                <a:latin typeface="Didact Gothic"/>
              </a:rPr>
              <a:t>Re-evaluate discount strategy to protect margins and run controlled pricing experiments to estimate causal effects.</a:t>
            </a:r>
            <a:endParaRPr b="0" lang="en-US" sz="1400" strike="noStrike" u="none">
              <a:solidFill>
                <a:srgbClr val="ffffff"/>
              </a:solidFill>
              <a:effectLst/>
              <a:uFillTx/>
              <a:latin typeface="OpenSymbol"/>
            </a:endParaRPr>
          </a:p>
          <a:p>
            <a:pPr defTabSz="914400">
              <a:lnSpc>
                <a:spcPct val="150000"/>
              </a:lnSpc>
              <a:tabLst>
                <a:tab algn="l" pos="0"/>
              </a:tabLst>
            </a:pPr>
            <a:r>
              <a:rPr b="0" lang="en-US" sz="1400" strike="noStrike" u="none">
                <a:solidFill>
                  <a:srgbClr val="eeeeee"/>
                </a:solidFill>
                <a:effectLst/>
                <a:uFillTx/>
                <a:latin typeface="Didact Gothic"/>
              </a:rPr>
              <a:t>Acknowledge observational data limits, potential confounders, and aggregation bias; pursue richer feature capture and A/B testing before large-scale changes. </a:t>
            </a:r>
            <a:endParaRPr b="0" lang="en-US" sz="1400" strike="noStrike" u="none">
              <a:solidFill>
                <a:srgbClr val="ffffff"/>
              </a:solidFill>
              <a:effectLst/>
              <a:uFillTx/>
              <a:latin typeface="OpenSymbol"/>
            </a:endParaRPr>
          </a:p>
          <a:p>
            <a:pPr defTabSz="914400">
              <a:lnSpc>
                <a:spcPct val="150000"/>
              </a:lnSpc>
              <a:tabLst>
                <a:tab algn="l" pos="0"/>
              </a:tabLst>
            </a:pPr>
            <a:r>
              <a:rPr b="0" lang="en-US" sz="1400" strike="noStrike" u="none">
                <a:solidFill>
                  <a:srgbClr val="eeeeee"/>
                </a:solidFill>
                <a:effectLst/>
                <a:uFillTx/>
                <a:latin typeface="Didact Gothic"/>
              </a:rPr>
              <a:t>California generated the highest sales among all states.</a:t>
            </a:r>
            <a:endParaRPr b="0" lang="en-US" sz="1400" strike="noStrike" u="none">
              <a:solidFill>
                <a:srgbClr val="ffffff"/>
              </a:solidFill>
              <a:effectLst/>
              <a:uFillTx/>
              <a:latin typeface="OpenSymbol"/>
            </a:endParaRPr>
          </a:p>
        </p:txBody>
      </p:sp>
      <p:sp>
        <p:nvSpPr>
          <p:cNvPr id="112" name=""/>
          <p:cNvSpPr/>
          <p:nvPr/>
        </p:nvSpPr>
        <p:spPr>
          <a:xfrm>
            <a:off x="714240" y="1057320"/>
            <a:ext cx="6438600" cy="380520"/>
          </a:xfrm>
          <a:prstGeom prst="rect">
            <a:avLst/>
          </a:prstGeom>
          <a:noFill/>
          <a:ln w="0">
            <a:noFill/>
          </a:ln>
        </p:spPr>
        <p:style>
          <a:lnRef idx="0"/>
          <a:fillRef idx="0"/>
          <a:effectRef idx="0"/>
          <a:fontRef idx="minor"/>
        </p:style>
        <p:txBody>
          <a:bodyPr anchor="b">
            <a:normAutofit fontScale="77500" lnSpcReduction="19999"/>
          </a:bodyPr>
          <a:p>
            <a:pPr defTabSz="914400">
              <a:lnSpc>
                <a:spcPct val="100000"/>
              </a:lnSpc>
              <a:tabLst>
                <a:tab algn="l" pos="0"/>
              </a:tabLst>
            </a:pPr>
            <a:r>
              <a:rPr b="0" lang="en-US" sz="3000" strike="noStrike" u="none">
                <a:solidFill>
                  <a:srgbClr val="eeeeee"/>
                </a:solidFill>
                <a:effectLst/>
                <a:uFillTx/>
                <a:latin typeface="Julius Sans One"/>
              </a:rPr>
              <a:t>Customer &amp; Product Insig</a:t>
            </a:r>
            <a:r>
              <a:rPr b="1" lang="en-US" sz="3000" strike="noStrike" u="none">
                <a:solidFill>
                  <a:srgbClr val="000000"/>
                </a:solidFill>
                <a:effectLst/>
                <a:uFillTx/>
                <a:latin typeface="Julius Sans One"/>
              </a:rPr>
              <a:t>hts</a:t>
            </a:r>
            <a:endParaRPr b="0" lang="en-US" sz="3000" strike="noStrike" u="none">
              <a:solidFill>
                <a:srgbClr val="ffffff"/>
              </a:solidFill>
              <a:effectLst/>
              <a:uFillTx/>
              <a:latin typeface="OpenSymbo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0000"/>
        </a:solidFill>
      </p:bgPr>
    </p:bg>
    <p:spTree>
      <p:nvGrpSpPr>
        <p:cNvPr id="1" name=""/>
        <p:cNvGrpSpPr/>
        <p:nvPr/>
      </p:nvGrpSpPr>
      <p:grpSpPr>
        <a:xfrm>
          <a:off x="0" y="0"/>
          <a:ext cx="0" cy="0"/>
          <a:chOff x="0" y="0"/>
          <a:chExt cx="0" cy="0"/>
        </a:xfrm>
      </p:grpSpPr>
      <p:sp>
        <p:nvSpPr>
          <p:cNvPr id="113" name="PlaceHolder 1"/>
          <p:cNvSpPr>
            <a:spLocks noGrp="1"/>
          </p:cNvSpPr>
          <p:nvPr>
            <p:ph type="title"/>
          </p:nvPr>
        </p:nvSpPr>
        <p:spPr>
          <a:xfrm>
            <a:off x="714240" y="676440"/>
            <a:ext cx="7714800" cy="1295640"/>
          </a:xfrm>
          <a:prstGeom prst="rect">
            <a:avLst/>
          </a:prstGeom>
          <a:noFill/>
          <a:ln w="0">
            <a:noFill/>
          </a:ln>
        </p:spPr>
        <p:txBody>
          <a:bodyPr lIns="91440" rIns="91440" tIns="91440" bIns="91440" anchor="t">
            <a:spAutoFit/>
          </a:bodyPr>
          <a:p>
            <a:pPr indent="0" algn="ctr">
              <a:lnSpc>
                <a:spcPct val="100000"/>
              </a:lnSpc>
              <a:buNone/>
              <a:tabLst>
                <a:tab algn="l" pos="0"/>
              </a:tabLst>
            </a:pPr>
            <a:r>
              <a:rPr b="1" lang="en" sz="5000" strike="noStrike" u="none">
                <a:solidFill>
                  <a:schemeClr val="accent5"/>
                </a:solidFill>
                <a:effectLst/>
                <a:uFillTx/>
                <a:latin typeface="Julius Sans One"/>
                <a:ea typeface="Julius Sans One"/>
              </a:rPr>
              <a:t>Thanks</a:t>
            </a:r>
            <a:endParaRPr b="0" lang="fr-FR" sz="5000" strike="noStrike" u="none">
              <a:solidFill>
                <a:schemeClr val="dk1"/>
              </a:solidFill>
              <a:effectLst/>
              <a:uFillTx/>
              <a:latin typeface="Arial"/>
            </a:endParaRPr>
          </a:p>
        </p:txBody>
      </p:sp>
      <p:sp>
        <p:nvSpPr>
          <p:cNvPr id="114" name="PlaceHolder 2"/>
          <p:cNvSpPr>
            <a:spLocks noGrp="1"/>
          </p:cNvSpPr>
          <p:nvPr>
            <p:ph/>
          </p:nvPr>
        </p:nvSpPr>
        <p:spPr>
          <a:xfrm>
            <a:off x="3067200" y="2133720"/>
            <a:ext cx="3009600" cy="605160"/>
          </a:xfrm>
          <a:prstGeom prst="rect">
            <a:avLst/>
          </a:prstGeom>
          <a:noFill/>
          <a:ln w="0">
            <a:noFill/>
          </a:ln>
        </p:spPr>
        <p:txBody>
          <a:bodyPr lIns="91440" rIns="91440" tIns="91440" bIns="91440" anchor="t">
            <a:spAutoFit/>
          </a:bodyPr>
          <a:p>
            <a:pPr algn="ctr">
              <a:lnSpc>
                <a:spcPct val="100000"/>
              </a:lnSpc>
              <a:buClr>
                <a:srgbClr val="eeeeee"/>
              </a:buClr>
              <a:buFont typeface="Didact Gothic"/>
              <a:buChar char="●"/>
            </a:pPr>
            <a:r>
              <a:rPr b="0" lang="en" sz="1400" strike="noStrike" u="none">
                <a:solidFill>
                  <a:schemeClr val="accent5"/>
                </a:solidFill>
                <a:effectLst/>
                <a:uFillTx/>
                <a:latin typeface="Didact Gothic"/>
                <a:ea typeface="Didact Gothic"/>
              </a:rPr>
              <a:t>addyouremail@freepik.com</a:t>
            </a:r>
            <a:endParaRPr b="0" lang="fr-FR" sz="1400" strike="noStrike" u="none">
              <a:solidFill>
                <a:srgbClr val="000000"/>
              </a:solidFill>
              <a:effectLst/>
              <a:uFillTx/>
              <a:latin typeface="Arial"/>
            </a:endParaRPr>
          </a:p>
          <a:p>
            <a:pPr algn="ctr">
              <a:lnSpc>
                <a:spcPct val="100000"/>
              </a:lnSpc>
              <a:buClr>
                <a:srgbClr val="eeeeee"/>
              </a:buClr>
              <a:buFont typeface="Didact Gothic"/>
              <a:buChar char="●"/>
            </a:pPr>
            <a:r>
              <a:rPr b="0" lang="en" sz="1400" strike="noStrike" u="none">
                <a:solidFill>
                  <a:schemeClr val="accent5"/>
                </a:solidFill>
                <a:effectLst/>
                <a:uFillTx/>
                <a:latin typeface="Didact Gothic"/>
                <a:ea typeface="Didact Gothic"/>
              </a:rPr>
              <a:t>+91 620 421 838</a:t>
            </a:r>
            <a:endParaRPr b="0" lang="fr-FR" sz="1400" strike="noStrike" u="none">
              <a:solidFill>
                <a:srgbClr val="000000"/>
              </a:solidFill>
              <a:effectLst/>
              <a:uFillTx/>
              <a:latin typeface="Arial"/>
            </a:endParaRPr>
          </a:p>
          <a:p>
            <a:pPr algn="ctr">
              <a:lnSpc>
                <a:spcPct val="100000"/>
              </a:lnSpc>
              <a:buClr>
                <a:srgbClr val="eeeeee"/>
              </a:buClr>
              <a:buFont typeface="Didact Gothic"/>
              <a:buChar char="●"/>
            </a:pPr>
            <a:r>
              <a:rPr b="0" lang="en" sz="1400" strike="noStrike" u="none">
                <a:solidFill>
                  <a:schemeClr val="accent5"/>
                </a:solidFill>
                <a:effectLst/>
                <a:uFillTx/>
                <a:latin typeface="Didact Gothic"/>
                <a:ea typeface="Didact Gothic"/>
              </a:rPr>
              <a:t>yourcompany.com</a:t>
            </a:r>
            <a:endParaRPr b="0" lang="fr-FR" sz="1400" strike="noStrike" u="none">
              <a:solidFill>
                <a:srgbClr val="000000"/>
              </a:solidFill>
              <a:effectLst/>
              <a:uFillTx/>
              <a:latin typeface="Arial"/>
            </a:endParaRPr>
          </a:p>
        </p:txBody>
      </p:sp>
      <p:sp>
        <p:nvSpPr>
          <p:cNvPr id="115" name="PlaceHolder 3"/>
          <p:cNvSpPr>
            <a:spLocks noGrp="1"/>
          </p:cNvSpPr>
          <p:nvPr>
            <p:ph type="subTitle"/>
          </p:nvPr>
        </p:nvSpPr>
        <p:spPr>
          <a:xfrm>
            <a:off x="3067200" y="1847880"/>
            <a:ext cx="3009600" cy="4287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400" strike="noStrike" u="none">
                <a:solidFill>
                  <a:schemeClr val="accent5"/>
                </a:solidFill>
                <a:effectLst/>
                <a:uFillTx/>
                <a:latin typeface="Didact Gothic"/>
                <a:ea typeface="Didact Gothic"/>
              </a:rPr>
              <a:t>Do you have any questions?</a:t>
            </a:r>
            <a:endParaRPr b="0" lang="en-US" sz="1400" strike="noStrike" u="none">
              <a:solidFill>
                <a:srgbClr val="ffffff"/>
              </a:solidFill>
              <a:effectLst/>
              <a:uFillTx/>
              <a:latin typeface="OpenSymbol"/>
            </a:endParaRPr>
          </a:p>
          <a:p>
            <a:pPr indent="0" algn="ctr">
              <a:lnSpc>
                <a:spcPct val="100000"/>
              </a:lnSpc>
              <a:spcBef>
                <a:spcPts val="1199"/>
              </a:spcBef>
              <a:spcAft>
                <a:spcPts val="1199"/>
              </a:spcAft>
              <a:buNone/>
              <a:tabLst>
                <a:tab algn="l" pos="0"/>
              </a:tabLst>
            </a:pPr>
            <a:endParaRPr b="0" lang="en-US" sz="1400" strike="noStrike" u="none">
              <a:solidFill>
                <a:srgbClr val="ffffff"/>
              </a:solidFill>
              <a:effectLst/>
              <a:uFillTx/>
              <a:latin typeface="OpenSymbol"/>
            </a:endParaRPr>
          </a:p>
        </p:txBody>
      </p:sp>
      <p:sp>
        <p:nvSpPr>
          <p:cNvPr id="116" name="PlaceHolder 4"/>
          <p:cNvSpPr>
            <a:spLocks noGrp="1"/>
          </p:cNvSpPr>
          <p:nvPr>
            <p:ph type="subTitle"/>
          </p:nvPr>
        </p:nvSpPr>
        <p:spPr>
          <a:xfrm>
            <a:off x="3067200" y="3819600"/>
            <a:ext cx="3009600" cy="428760"/>
          </a:xfrm>
          <a:prstGeom prst="rect">
            <a:avLst/>
          </a:prstGeom>
          <a:noFill/>
          <a:ln w="0">
            <a:noFill/>
          </a:ln>
        </p:spPr>
        <p:txBody>
          <a:bodyPr lIns="91440" rIns="91440" tIns="91440" bIns="91440" anchor="t">
            <a:spAutoFit/>
          </a:bodyPr>
          <a:p>
            <a:pPr indent="0" algn="ctr">
              <a:lnSpc>
                <a:spcPct val="100000"/>
              </a:lnSpc>
              <a:buNone/>
              <a:tabLst>
                <a:tab algn="l" pos="0"/>
              </a:tabLst>
            </a:pPr>
            <a:r>
              <a:rPr b="0" lang="en" sz="1400" strike="noStrike" u="none">
                <a:solidFill>
                  <a:schemeClr val="accent5"/>
                </a:solidFill>
                <a:effectLst/>
                <a:uFillTx/>
                <a:latin typeface="Didact Gothic"/>
                <a:ea typeface="Didact Gothic"/>
              </a:rPr>
              <a:t>Please keep this slide for attribution </a:t>
            </a:r>
            <a:endParaRPr b="0" lang="en-US" sz="1400" strike="noStrike" u="none">
              <a:solidFill>
                <a:srgbClr val="ffffff"/>
              </a:solidFill>
              <a:effectLst/>
              <a:uFillTx/>
              <a:latin typeface="OpenSymbol"/>
            </a:endParaRPr>
          </a:p>
          <a:p>
            <a:pPr indent="0" algn="ctr">
              <a:lnSpc>
                <a:spcPct val="100000"/>
              </a:lnSpc>
              <a:spcBef>
                <a:spcPts val="1199"/>
              </a:spcBef>
              <a:spcAft>
                <a:spcPts val="1199"/>
              </a:spcAft>
              <a:buNone/>
              <a:tabLst>
                <a:tab algn="l" pos="0"/>
              </a:tabLst>
            </a:pPr>
            <a:endParaRPr b="0" lang="en-US" sz="1400" strike="noStrike" u="none">
              <a:solidFill>
                <a:srgbClr val="ffffff"/>
              </a:solidFill>
              <a:effectLst/>
              <a:uFillTx/>
              <a:latin typeface="OpenSymbol"/>
            </a:endParaRPr>
          </a:p>
        </p:txBody>
      </p:sp>
      <p:sp>
        <p:nvSpPr>
          <p:cNvPr id="117" name="Google Shape;1475;p120"/>
          <p:cNvSpPr/>
          <p:nvPr/>
        </p:nvSpPr>
        <p:spPr>
          <a:xfrm>
            <a:off x="3949560" y="3015000"/>
            <a:ext cx="345240" cy="345600"/>
          </a:xfrm>
          <a:custGeom>
            <a:avLst/>
            <a:gdLst>
              <a:gd name="textAreaLeft" fmla="*/ 0 w 345240"/>
              <a:gd name="textAreaRight" fmla="*/ 345600 w 345240"/>
              <a:gd name="textAreaTop" fmla="*/ 0 h 345600"/>
              <a:gd name="textAreaBottom" fmla="*/ 345960 h 345600"/>
            </a:gdLst>
            <a:ahLst/>
            <a:cxnLst/>
            <a:rect l="textAreaLeft" t="textAreaTop" r="textAreaRight" b="textAreaBottom"/>
            <a:pathLst>
              <a:path w="10860" h="10872">
                <a:moveTo>
                  <a:pt x="5430" y="1"/>
                </a:moveTo>
                <a:cubicBezTo>
                  <a:pt x="3990" y="1"/>
                  <a:pt x="2608" y="560"/>
                  <a:pt x="1596" y="1584"/>
                </a:cubicBezTo>
                <a:cubicBezTo>
                  <a:pt x="561" y="2620"/>
                  <a:pt x="1" y="3989"/>
                  <a:pt x="1" y="5430"/>
                </a:cubicBezTo>
                <a:cubicBezTo>
                  <a:pt x="1" y="6561"/>
                  <a:pt x="346" y="7645"/>
                  <a:pt x="1001" y="8573"/>
                </a:cubicBezTo>
                <a:cubicBezTo>
                  <a:pt x="1632" y="9466"/>
                  <a:pt x="2513" y="10145"/>
                  <a:pt x="3537" y="10538"/>
                </a:cubicBezTo>
                <a:cubicBezTo>
                  <a:pt x="3559" y="10544"/>
                  <a:pt x="3579" y="10547"/>
                  <a:pt x="3599" y="10547"/>
                </a:cubicBezTo>
                <a:cubicBezTo>
                  <a:pt x="3656" y="10547"/>
                  <a:pt x="3704" y="10522"/>
                  <a:pt x="3740" y="10478"/>
                </a:cubicBezTo>
                <a:cubicBezTo>
                  <a:pt x="3763" y="10443"/>
                  <a:pt x="3763" y="10395"/>
                  <a:pt x="3763" y="10371"/>
                </a:cubicBezTo>
                <a:lnTo>
                  <a:pt x="3763" y="7275"/>
                </a:lnTo>
                <a:cubicBezTo>
                  <a:pt x="3763" y="7180"/>
                  <a:pt x="3692" y="7097"/>
                  <a:pt x="3585" y="7097"/>
                </a:cubicBezTo>
                <a:lnTo>
                  <a:pt x="2156" y="7097"/>
                </a:lnTo>
                <a:lnTo>
                  <a:pt x="2156" y="5835"/>
                </a:lnTo>
                <a:lnTo>
                  <a:pt x="3585" y="5835"/>
                </a:lnTo>
                <a:cubicBezTo>
                  <a:pt x="3680" y="5835"/>
                  <a:pt x="3763" y="5751"/>
                  <a:pt x="3763" y="5656"/>
                </a:cubicBezTo>
                <a:lnTo>
                  <a:pt x="3763" y="5430"/>
                </a:lnTo>
                <a:cubicBezTo>
                  <a:pt x="3763" y="3942"/>
                  <a:pt x="5180" y="2632"/>
                  <a:pt x="6799" y="2632"/>
                </a:cubicBezTo>
                <a:lnTo>
                  <a:pt x="7550" y="2632"/>
                </a:lnTo>
                <a:lnTo>
                  <a:pt x="7550" y="3894"/>
                </a:lnTo>
                <a:lnTo>
                  <a:pt x="6799" y="3894"/>
                </a:lnTo>
                <a:cubicBezTo>
                  <a:pt x="6311" y="3894"/>
                  <a:pt x="5883" y="4025"/>
                  <a:pt x="5561" y="4287"/>
                </a:cubicBezTo>
                <a:cubicBezTo>
                  <a:pt x="5228" y="4561"/>
                  <a:pt x="5025" y="4966"/>
                  <a:pt x="5025" y="5430"/>
                </a:cubicBezTo>
                <a:lnTo>
                  <a:pt x="5025" y="5656"/>
                </a:lnTo>
                <a:cubicBezTo>
                  <a:pt x="5025" y="5740"/>
                  <a:pt x="5109" y="5835"/>
                  <a:pt x="5204" y="5835"/>
                </a:cubicBezTo>
                <a:lnTo>
                  <a:pt x="5883" y="5835"/>
                </a:lnTo>
                <a:cubicBezTo>
                  <a:pt x="5966" y="5835"/>
                  <a:pt x="6061" y="5751"/>
                  <a:pt x="6061" y="5656"/>
                </a:cubicBezTo>
                <a:cubicBezTo>
                  <a:pt x="6061" y="5561"/>
                  <a:pt x="5978" y="5478"/>
                  <a:pt x="5883" y="5478"/>
                </a:cubicBezTo>
                <a:lnTo>
                  <a:pt x="5371" y="5478"/>
                </a:lnTo>
                <a:lnTo>
                  <a:pt x="5371" y="5418"/>
                </a:lnTo>
                <a:cubicBezTo>
                  <a:pt x="5371" y="4525"/>
                  <a:pt x="6145" y="4204"/>
                  <a:pt x="6799" y="4204"/>
                </a:cubicBezTo>
                <a:lnTo>
                  <a:pt x="7704" y="4204"/>
                </a:lnTo>
                <a:cubicBezTo>
                  <a:pt x="7800" y="4204"/>
                  <a:pt x="7883" y="4132"/>
                  <a:pt x="7883" y="4025"/>
                </a:cubicBezTo>
                <a:lnTo>
                  <a:pt x="7883" y="2418"/>
                </a:lnTo>
                <a:cubicBezTo>
                  <a:pt x="7883" y="2334"/>
                  <a:pt x="7811" y="2239"/>
                  <a:pt x="7704" y="2239"/>
                </a:cubicBezTo>
                <a:lnTo>
                  <a:pt x="6799" y="2239"/>
                </a:lnTo>
                <a:cubicBezTo>
                  <a:pt x="5966" y="2239"/>
                  <a:pt x="5121" y="2572"/>
                  <a:pt x="4466" y="3156"/>
                </a:cubicBezTo>
                <a:cubicBezTo>
                  <a:pt x="3799" y="3763"/>
                  <a:pt x="3418" y="4549"/>
                  <a:pt x="3418" y="5382"/>
                </a:cubicBezTo>
                <a:lnTo>
                  <a:pt x="3418" y="5442"/>
                </a:lnTo>
                <a:lnTo>
                  <a:pt x="1989" y="5442"/>
                </a:lnTo>
                <a:cubicBezTo>
                  <a:pt x="1906" y="5442"/>
                  <a:pt x="1811" y="5513"/>
                  <a:pt x="1811" y="5620"/>
                </a:cubicBezTo>
                <a:lnTo>
                  <a:pt x="1811" y="7228"/>
                </a:lnTo>
                <a:cubicBezTo>
                  <a:pt x="1811" y="7323"/>
                  <a:pt x="1894" y="7406"/>
                  <a:pt x="1989" y="7406"/>
                </a:cubicBezTo>
                <a:lnTo>
                  <a:pt x="3418" y="7406"/>
                </a:lnTo>
                <a:lnTo>
                  <a:pt x="3418" y="10085"/>
                </a:lnTo>
                <a:cubicBezTo>
                  <a:pt x="1561" y="9300"/>
                  <a:pt x="346" y="7442"/>
                  <a:pt x="346" y="5418"/>
                </a:cubicBezTo>
                <a:cubicBezTo>
                  <a:pt x="346" y="2596"/>
                  <a:pt x="2620" y="322"/>
                  <a:pt x="5430" y="322"/>
                </a:cubicBezTo>
                <a:cubicBezTo>
                  <a:pt x="8228" y="322"/>
                  <a:pt x="10526" y="2620"/>
                  <a:pt x="10526" y="5418"/>
                </a:cubicBezTo>
                <a:cubicBezTo>
                  <a:pt x="10526" y="8228"/>
                  <a:pt x="8240" y="10502"/>
                  <a:pt x="5430" y="10502"/>
                </a:cubicBezTo>
                <a:lnTo>
                  <a:pt x="5371" y="10502"/>
                </a:lnTo>
                <a:lnTo>
                  <a:pt x="5371" y="7418"/>
                </a:lnTo>
                <a:lnTo>
                  <a:pt x="7728" y="7418"/>
                </a:lnTo>
                <a:cubicBezTo>
                  <a:pt x="7811" y="7418"/>
                  <a:pt x="7907" y="7347"/>
                  <a:pt x="7907" y="7240"/>
                </a:cubicBezTo>
                <a:lnTo>
                  <a:pt x="7907" y="5656"/>
                </a:lnTo>
                <a:cubicBezTo>
                  <a:pt x="7907" y="5561"/>
                  <a:pt x="7823" y="5478"/>
                  <a:pt x="7728" y="5478"/>
                </a:cubicBezTo>
                <a:lnTo>
                  <a:pt x="6728" y="5478"/>
                </a:lnTo>
                <a:cubicBezTo>
                  <a:pt x="6633" y="5478"/>
                  <a:pt x="6549" y="5549"/>
                  <a:pt x="6549" y="5656"/>
                </a:cubicBezTo>
                <a:cubicBezTo>
                  <a:pt x="6549" y="5740"/>
                  <a:pt x="6621" y="5835"/>
                  <a:pt x="6728" y="5835"/>
                </a:cubicBezTo>
                <a:lnTo>
                  <a:pt x="7561" y="5835"/>
                </a:lnTo>
                <a:lnTo>
                  <a:pt x="7561" y="7097"/>
                </a:lnTo>
                <a:lnTo>
                  <a:pt x="5204" y="7097"/>
                </a:lnTo>
                <a:cubicBezTo>
                  <a:pt x="5121" y="7097"/>
                  <a:pt x="5025" y="7168"/>
                  <a:pt x="5025" y="7275"/>
                </a:cubicBezTo>
                <a:lnTo>
                  <a:pt x="5025" y="10693"/>
                </a:lnTo>
                <a:cubicBezTo>
                  <a:pt x="5025" y="10788"/>
                  <a:pt x="5109" y="10859"/>
                  <a:pt x="5192" y="10871"/>
                </a:cubicBezTo>
                <a:lnTo>
                  <a:pt x="5430" y="10871"/>
                </a:lnTo>
                <a:cubicBezTo>
                  <a:pt x="6871" y="10871"/>
                  <a:pt x="8240" y="10312"/>
                  <a:pt x="9276" y="9288"/>
                </a:cubicBezTo>
                <a:cubicBezTo>
                  <a:pt x="10300" y="8252"/>
                  <a:pt x="10859" y="6883"/>
                  <a:pt x="10859" y="5442"/>
                </a:cubicBezTo>
                <a:cubicBezTo>
                  <a:pt x="10859" y="3989"/>
                  <a:pt x="10300" y="2620"/>
                  <a:pt x="9276" y="1584"/>
                </a:cubicBezTo>
                <a:cubicBezTo>
                  <a:pt x="8240" y="560"/>
                  <a:pt x="6871"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nvGrpSpPr>
          <p:cNvPr id="118" name="Google Shape;1476;p120"/>
          <p:cNvGrpSpPr/>
          <p:nvPr/>
        </p:nvGrpSpPr>
        <p:grpSpPr>
          <a:xfrm>
            <a:off x="4399200" y="3015000"/>
            <a:ext cx="345600" cy="345240"/>
            <a:chOff x="4399200" y="3015000"/>
            <a:chExt cx="345600" cy="345240"/>
          </a:xfrm>
        </p:grpSpPr>
        <p:sp>
          <p:nvSpPr>
            <p:cNvPr id="119" name="Google Shape;1477;p120"/>
            <p:cNvSpPr/>
            <p:nvPr/>
          </p:nvSpPr>
          <p:spPr>
            <a:xfrm>
              <a:off x="4399200" y="301500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0" name="Google Shape;1478;p120"/>
            <p:cNvSpPr/>
            <p:nvPr/>
          </p:nvSpPr>
          <p:spPr>
            <a:xfrm>
              <a:off x="4464000" y="3080160"/>
              <a:ext cx="214920" cy="214920"/>
            </a:xfrm>
            <a:custGeom>
              <a:avLst/>
              <a:gdLst>
                <a:gd name="textAreaLeft" fmla="*/ 0 w 214920"/>
                <a:gd name="textAreaRight" fmla="*/ 215280 w 214920"/>
                <a:gd name="textAreaTop" fmla="*/ 0 h 214920"/>
                <a:gd name="textAreaBottom" fmla="*/ 215280 h 21492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1" name="Google Shape;1479;p120"/>
            <p:cNvSpPr/>
            <p:nvPr/>
          </p:nvSpPr>
          <p:spPr>
            <a:xfrm>
              <a:off x="4514040" y="3131280"/>
              <a:ext cx="114480" cy="112320"/>
            </a:xfrm>
            <a:custGeom>
              <a:avLst/>
              <a:gdLst>
                <a:gd name="textAreaLeft" fmla="*/ 0 w 114480"/>
                <a:gd name="textAreaRight" fmla="*/ 114840 w 114480"/>
                <a:gd name="textAreaTop" fmla="*/ 0 h 112320"/>
                <a:gd name="textAreaBottom" fmla="*/ 112680 h 11232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56160" bIns="561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2" name="Google Shape;1480;p120"/>
            <p:cNvSpPr/>
            <p:nvPr/>
          </p:nvSpPr>
          <p:spPr>
            <a:xfrm>
              <a:off x="4615200" y="3107880"/>
              <a:ext cx="29160" cy="28800"/>
            </a:xfrm>
            <a:custGeom>
              <a:avLst/>
              <a:gdLst>
                <a:gd name="textAreaLeft" fmla="*/ 0 w 29160"/>
                <a:gd name="textAreaRight" fmla="*/ 29520 w 29160"/>
                <a:gd name="textAreaTop" fmla="*/ 0 h 28800"/>
                <a:gd name="textAreaBottom" fmla="*/ 29160 h 2880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4400" bIns="144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123" name="Google Shape;1481;p120"/>
          <p:cNvGrpSpPr/>
          <p:nvPr/>
        </p:nvGrpSpPr>
        <p:grpSpPr>
          <a:xfrm>
            <a:off x="4848120" y="3015000"/>
            <a:ext cx="345600" cy="345240"/>
            <a:chOff x="4848120" y="3015000"/>
            <a:chExt cx="345600" cy="345240"/>
          </a:xfrm>
        </p:grpSpPr>
        <p:sp>
          <p:nvSpPr>
            <p:cNvPr id="124" name="Google Shape;1482;p120"/>
            <p:cNvSpPr/>
            <p:nvPr/>
          </p:nvSpPr>
          <p:spPr>
            <a:xfrm>
              <a:off x="4848120" y="3015000"/>
              <a:ext cx="345600" cy="345240"/>
            </a:xfrm>
            <a:custGeom>
              <a:avLst/>
              <a:gdLst>
                <a:gd name="textAreaLeft" fmla="*/ 0 w 345600"/>
                <a:gd name="textAreaRight" fmla="*/ 345960 w 345600"/>
                <a:gd name="textAreaTop" fmla="*/ 0 h 345240"/>
                <a:gd name="textAreaBottom" fmla="*/ 345600 h 345240"/>
              </a:gdLst>
              <a:ahLst/>
              <a:cxnLst/>
              <a:rect l="textAreaLeft" t="textAreaTop" r="textAreaRight" b="textAreaBottom"/>
              <a:pathLst>
                <a:path w="10872" h="1086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5" name="Google Shape;1483;p120"/>
            <p:cNvSpPr/>
            <p:nvPr/>
          </p:nvSpPr>
          <p:spPr>
            <a:xfrm>
              <a:off x="4927680" y="3153240"/>
              <a:ext cx="47520" cy="120240"/>
            </a:xfrm>
            <a:custGeom>
              <a:avLst/>
              <a:gdLst>
                <a:gd name="textAreaLeft" fmla="*/ 0 w 47520"/>
                <a:gd name="textAreaRight" fmla="*/ 47880 w 47520"/>
                <a:gd name="textAreaTop" fmla="*/ 0 h 120240"/>
                <a:gd name="textAreaBottom" fmla="*/ 120600 h 12024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6" name="Google Shape;1484;p120"/>
            <p:cNvSpPr/>
            <p:nvPr/>
          </p:nvSpPr>
          <p:spPr>
            <a:xfrm>
              <a:off x="4920480" y="3087720"/>
              <a:ext cx="54720" cy="54720"/>
            </a:xfrm>
            <a:custGeom>
              <a:avLst/>
              <a:gdLst>
                <a:gd name="textAreaLeft" fmla="*/ 0 w 54720"/>
                <a:gd name="textAreaRight" fmla="*/ 55080 w 54720"/>
                <a:gd name="textAreaTop" fmla="*/ 0 h 54720"/>
                <a:gd name="textAreaBottom" fmla="*/ 55080 h 5472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27360" bIns="2736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127" name="Google Shape;1485;p120"/>
            <p:cNvSpPr/>
            <p:nvPr/>
          </p:nvSpPr>
          <p:spPr>
            <a:xfrm>
              <a:off x="5000760" y="3153240"/>
              <a:ext cx="127800" cy="120240"/>
            </a:xfrm>
            <a:custGeom>
              <a:avLst/>
              <a:gdLst>
                <a:gd name="textAreaLeft" fmla="*/ 0 w 127800"/>
                <a:gd name="textAreaRight" fmla="*/ 128160 w 127800"/>
                <a:gd name="textAreaTop" fmla="*/ 0 h 120240"/>
                <a:gd name="textAreaBottom" fmla="*/ 120600 h 12024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60120" bIns="601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
  <a:themeElements>
    <a:clrScheme name="Simple Light">
      <a:dk1>
        <a:srgbClr val="000000"/>
      </a:dk1>
      <a:lt1>
        <a:srgbClr val="eeeeee"/>
      </a:lt1>
      <a:dk2>
        <a:srgbClr val="dbdbdb"/>
      </a:dk2>
      <a:lt2>
        <a:srgbClr val="929292"/>
      </a:lt2>
      <a:accent1>
        <a:srgbClr val="383838"/>
      </a:accent1>
      <a:accent2>
        <a:srgbClr val="383838"/>
      </a:accent2>
      <a:accent3>
        <a:srgbClr val="383838"/>
      </a:accent3>
      <a:accent4>
        <a:srgbClr val="383838"/>
      </a:accent4>
      <a:accent5>
        <a:srgbClr val="ffffff"/>
      </a:accent5>
      <a:accent6>
        <a:srgbClr val="ffffff"/>
      </a:accent6>
      <a:hlink>
        <a:srgbClr val="383838"/>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LibreOffice/25.8.1.1$Linux_X86_64 LibreOffice_project/580$Build-1</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2026-07-25T19:29:12Z</dcterms:created>
  <dc:creator>Slidesgo AI</dc:creator>
  <dc:description/>
  <dc:language>en-US</dc:language>
  <cp:lastModifiedBy>Unknown Creator</cp:lastModifiedBy>
  <dcterms:modified xsi:type="dcterms:W3CDTF">2026-07-25T19:29:12Z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11</vt:r8>
  </property>
  <property fmtid="{D5CDD505-2E9C-101B-9397-08002B2CF9AE}" pid="3" name="SlidesgoGeneratedBy">
    <vt:lpwstr>slidesgo-ai</vt:lpwstr>
  </property>
  <property fmtid="{D5CDD505-2E9C-101B-9397-08002B2CF9AE}" pid="4" name="SlidesgoPresentationUuid">
    <vt:lpwstr>a2586c29-7c6c-4608-bd88-d76eac497560</vt:lpwstr>
  </property>
</Properties>
</file>